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ops.softgic.co/DevOps_SE/OP.Solvo.CelulaIA2/_workitems/edit/77215" TargetMode="External"/><Relationship Id="rId3" Type="http://schemas.openxmlformats.org/officeDocument/2006/relationships/hyperlink" Target="https://devops.softgic.co/DevOps_SE/OP.Solvo.CelulaIA2/_workitems/edit/82712" TargetMode="External"/><Relationship Id="rId4" Type="http://schemas.openxmlformats.org/officeDocument/2006/relationships/hyperlink" Target="https://devops.softgic.co/DevOps_SE/OP.Solvo.CelulaIA2/_workitems/edit/95102" TargetMode="External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ops.softgic.co/DevOps_SE/OP.Solvo.CelulaIA2/_workitems/edit/75746" TargetMode="External"/><Relationship Id="rId3" Type="http://schemas.openxmlformats.org/officeDocument/2006/relationships/hyperlink" Target="https://devops.softgic.co/DevOps_SE/OP.Solvo.CelulaIA2/_workitems/edit/84882" TargetMode="External"/><Relationship Id="rId4" Type="http://schemas.openxmlformats.org/officeDocument/2006/relationships/hyperlink" Target="https://devops.softgic.co/DevOps_SE/OP.Solvo.CelulaIA2/_workitems/edit/95102" TargetMode="External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ops.softgic.co/DevOps_SE/OP.Solvo.CelulaIA2/_workitems/edit/77515" TargetMode="External"/><Relationship Id="rId3" Type="http://schemas.openxmlformats.org/officeDocument/2006/relationships/hyperlink" Target="https://devops.softgic.co/DevOps_SE/OP.Solvo.CelulaIA2/_workitems/edit/85100" TargetMode="External"/><Relationship Id="rId4" Type="http://schemas.openxmlformats.org/officeDocument/2006/relationships/hyperlink" Target="https://devops.softgic.co/DevOps_SE/OP.Solvo.CelulaIA2/_workitems/edit/95102" TargetMode="External"/><Relationship Id="rId5" Type="http://schemas.openxmlformats.org/officeDocument/2006/relationships/hyperlink" Target="https://devops.softgic.co/DevOps_SE/OP.Solvo.CelulaIA2/_workitems/edit/96065" TargetMode="External"/><Relationship Id="rId6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ops.softgic.co/DevOps_SE/OP.Solvo.CelulaIA2/_workitems/edit/88916" TargetMode="External"/><Relationship Id="rId3" Type="http://schemas.openxmlformats.org/officeDocument/2006/relationships/hyperlink" Target="https://devops.softgic.co/DevOps_SE/OP.Solvo.CelulaIA2/_workitems/edit/90079" TargetMode="External"/><Relationship Id="rId4" Type="http://schemas.openxmlformats.org/officeDocument/2006/relationships/hyperlink" Target="https://devops.softgic.co/DevOps_SE/OP.Solvo.CelulaIA2/_workitems/edit/92486" TargetMode="External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ops.softgic.co/DevOps_SE/OP.Solvo.CelulaIA2/_workitems/edit/90924" TargetMode="External"/><Relationship Id="rId3" Type="http://schemas.openxmlformats.org/officeDocument/2006/relationships/hyperlink" Target="https://devops.softgic.co/DevOps_SE/OP.Solvo.CelulaIA2/_workitems/edit/93094" TargetMode="External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ops.softgic.co/DevOps_SE/OP.Solvo.CelulaIA2/_workitems/edit/90079" TargetMode="External"/><Relationship Id="rId3" Type="http://schemas.openxmlformats.org/officeDocument/2006/relationships/hyperlink" Target="https://devops.softgic.co/DevOps_SE/OP.Solvo.CelulaIA2/_workitems/edit/93094" TargetMode="Externa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ops.softgic.co/DevOps_SE/OP.Solvo.CelulaIA2/_workitems/edit/92485" TargetMode="External"/><Relationship Id="rId3" Type="http://schemas.openxmlformats.org/officeDocument/2006/relationships/hyperlink" Target="https://devops.softgic.co/DevOps_SE/OP.Solvo.CelulaIA2/_workitems/edit/95102" TargetMode="External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ops.softgic.co/DevOps_SE/OP.Solvo.CelulaIA2/_workitems/edit/75022" TargetMode="External"/><Relationship Id="rId3" Type="http://schemas.openxmlformats.org/officeDocument/2006/relationships/hyperlink" Target="https://devops.softgic.co/DevOps_SE/OP.Solvo.CelulaIA2/_workitems/edit/82718" TargetMode="External"/><Relationship Id="rId4" Type="http://schemas.openxmlformats.org/officeDocument/2006/relationships/hyperlink" Target="https://devops.softgic.co/DevOps_SE/OP.Solvo.CelulaIA2/_workitems/edit/88520" TargetMode="External"/><Relationship Id="rId5" Type="http://schemas.openxmlformats.org/officeDocument/2006/relationships/hyperlink" Target="https://devops.softgic.co/DevOps_SE/OP.Solvo.CelulaIA2/_workitems/edit/95102" TargetMode="External"/><Relationship Id="rId6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ops.softgic.co/DevOps_SE/OP.Solvo.CelulaIA2/_workitems/edit/80025" TargetMode="External"/><Relationship Id="rId3" Type="http://schemas.openxmlformats.org/officeDocument/2006/relationships/hyperlink" Target="https://devops.softgic.co/DevOps_SE/OP.Solvo.CelulaIA2/_workitems/edit/85208" TargetMode="External"/><Relationship Id="rId4" Type="http://schemas.openxmlformats.org/officeDocument/2006/relationships/hyperlink" Target="https://devops.softgic.co/DevOps_SE/OP.Solvo.CelulaIA2/_workitems/edit/87103" TargetMode="External"/><Relationship Id="rId5" Type="http://schemas.openxmlformats.org/officeDocument/2006/relationships/hyperlink" Target="https://devops.softgic.co/DevOps_SE/OP.Solvo.CelulaIA2/_workitems/edit/88845" TargetMode="External"/><Relationship Id="rId6" Type="http://schemas.openxmlformats.org/officeDocument/2006/relationships/hyperlink" Target="https://devops.softgic.co/DevOps_SE/OP.Solvo.CelulaIA2/_workitems/edit/89557" TargetMode="External"/><Relationship Id="rId7" Type="http://schemas.openxmlformats.org/officeDocument/2006/relationships/hyperlink" Target="https://devops.softgic.co/DevOps_SE/OP.Solvo.CelulaIA2/_workitems/edit/93094" TargetMode="External"/><Relationship Id="rId8" Type="http://schemas.openxmlformats.org/officeDocument/2006/relationships/hyperlink" Target="https://devops.softgic.co/DevOps_SE/OP.Solvo.CelulaIA2/_workitems/edit/95132" TargetMode="External"/><Relationship Id="rId9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ops.softgic.co/DevOps_SE/OP.Solvo.CelulaIA2/_workitems/edit/97124" TargetMode="Externa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ops.softgic.co/DevOps_SE/OP.Solvo.CelulaIA2/_workitems/edit/88723" TargetMode="External"/><Relationship Id="rId3" Type="http://schemas.openxmlformats.org/officeDocument/2006/relationships/hyperlink" Target="https://devops.softgic.co/DevOps_SE/OP.Solvo.CelulaIA2/_workitems/edit/89475" TargetMode="External"/><Relationship Id="rId4" Type="http://schemas.openxmlformats.org/officeDocument/2006/relationships/hyperlink" Target="https://devops.softgic.co/DevOps_SE/OP.Solvo.CelulaIA2/_workitems/edit/90042" TargetMode="External"/><Relationship Id="rId5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ops.softgic.co/DevOps_SE/OP.Solvo.CelulaIA2/_workitems/edit/91207" TargetMode="External"/><Relationship Id="rId3" Type="http://schemas.openxmlformats.org/officeDocument/2006/relationships/hyperlink" Target="https://devops.softgic.co/DevOps_SE/OP.Solvo.CelulaIA2/_workitems/edit/93872" TargetMode="External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olvoGenAI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480060"/>
            <a:ext cx="874425" cy="3017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5360" y="2256967"/>
            <a:ext cx="10241280" cy="182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26"/>
              </a:lnSpc>
              <a:spcBef>
                <a:spcPts val="0"/>
              </a:spcBef>
              <a:spcAft>
                <a:spcPts val="0"/>
              </a:spcAft>
            </a:pPr>
            <a:r>
              <a:rPr sz="1026" b="1" spc="267">
                <a:solidFill>
                  <a:srgbClr val="FBBF77"/>
                </a:solidFill>
                <a:latin typeface="Poppins"/>
              </a:rPr>
              <a:t>MAPA DE COMPONENTES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2590266"/>
            <a:ext cx="10241280" cy="1333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48"/>
              </a:lnSpc>
              <a:spcBef>
                <a:spcPts val="0"/>
              </a:spcBef>
              <a:spcAft>
                <a:spcPts val="0"/>
              </a:spcAft>
            </a:pPr>
            <a:r>
              <a:rPr sz="4860" b="1">
                <a:solidFill>
                  <a:srgbClr val="FFFFFF"/>
                </a:solidFill>
                <a:latin typeface="Poppins"/>
              </a:rPr>
              <a:t>Componentes, integraciones</a:t>
            </a:r>
          </a:p>
          <a:p>
            <a:pPr algn="l">
              <a:lnSpc>
                <a:spcPts val="5248"/>
              </a:lnSpc>
              <a:spcBef>
                <a:spcPts val="0"/>
              </a:spcBef>
              <a:spcAft>
                <a:spcPts val="0"/>
              </a:spcAft>
            </a:pPr>
            <a:r>
              <a:rPr sz="4860" b="1">
                <a:solidFill>
                  <a:srgbClr val="FDBA8C"/>
                </a:solidFill>
                <a:latin typeface="Poppins"/>
              </a:rPr>
              <a:t>y estado actual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4129201"/>
            <a:ext cx="2408327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DAD5F2"/>
                </a:solidFill>
                <a:latin typeface="Open Sans"/>
              </a:rPr>
              <a:t>Estado al sprint 21 · octubre de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0367" y="4149775"/>
            <a:ext cx="12700" cy="150876"/>
          </a:xfrm>
          <a:prstGeom prst="rect">
            <a:avLst/>
          </a:prstGeom>
          <a:solidFill>
            <a:srgbClr val="DAD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3247" y="4129201"/>
            <a:ext cx="754339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DAD5F2"/>
                </a:solidFill>
                <a:latin typeface="Open Sans"/>
              </a:rPr>
              <a:t>Softgic · Product Owner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5360" y="4595545"/>
            <a:ext cx="1813863" cy="279806"/>
          </a:xfrm>
          <a:prstGeom prst="roundRect">
            <a:avLst>
              <a:gd name="adj" fmla="val 50000"/>
            </a:avLst>
          </a:prstGeom>
          <a:solidFill>
            <a:srgbClr val="6B5BC4"/>
          </a:solidFill>
          <a:ln w="12700">
            <a:solidFill>
              <a:srgbClr val="9A8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5360" y="4595545"/>
            <a:ext cx="1813863" cy="2798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26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BBF77"/>
                </a:solidFill>
                <a:latin typeface="Poppins"/>
              </a:rPr>
              <a:t>10</a:t>
            </a:r>
            <a:r>
              <a:rPr sz="1026" b="1">
                <a:solidFill>
                  <a:srgbClr val="FFFFFF"/>
                </a:solidFill>
                <a:latin typeface="Poppins"/>
              </a:rPr>
              <a:t> · Solvo Sales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35527" y="4595545"/>
            <a:ext cx="2009296" cy="279806"/>
          </a:xfrm>
          <a:prstGeom prst="roundRect">
            <a:avLst>
              <a:gd name="adj" fmla="val 50000"/>
            </a:avLst>
          </a:prstGeom>
          <a:solidFill>
            <a:srgbClr val="6B5BC4"/>
          </a:solidFill>
          <a:ln w="12700">
            <a:solidFill>
              <a:srgbClr val="9A8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527" y="4595545"/>
            <a:ext cx="2009296" cy="2798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26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BBF77"/>
                </a:solidFill>
                <a:latin typeface="Poppins"/>
              </a:rPr>
              <a:t>2</a:t>
            </a:r>
            <a:r>
              <a:rPr sz="1026" b="1">
                <a:solidFill>
                  <a:srgbClr val="FFFFFF"/>
                </a:solidFill>
                <a:latin typeface="Poppins"/>
              </a:rPr>
              <a:t> · Solvo Recruiter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41665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9256" y="288036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506120"/>
            <a:ext cx="11216640" cy="331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11827"/>
                </a:solidFill>
                <a:latin typeface="Poppins"/>
              </a:rPr>
              <a:t>Componentes por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1664" y="1001953"/>
            <a:ext cx="10582656" cy="1104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21"/>
              </a:lnSpc>
              <a:spcBef>
                <a:spcPts val="0"/>
              </a:spcBef>
              <a:spcAft>
                <a:spcPts val="0"/>
              </a:spcAft>
            </a:pPr>
            <a:r>
              <a:rPr sz="621" b="1" spc="112">
                <a:solidFill>
                  <a:srgbClr val="9CA3AF"/>
                </a:solidFill>
                <a:latin typeface="Poppins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69459" y="1001953"/>
            <a:ext cx="6734860" cy="1104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21"/>
              </a:lnSpc>
              <a:spcBef>
                <a:spcPts val="0"/>
              </a:spcBef>
              <a:spcAft>
                <a:spcPts val="0"/>
              </a:spcAft>
            </a:pPr>
            <a:r>
              <a:rPr sz="621" b="1" spc="112">
                <a:solidFill>
                  <a:srgbClr val="9CA3AF"/>
                </a:solidFill>
                <a:latin typeface="Poppins"/>
              </a:rPr>
              <a:t>PRODUCCIÓN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3424" y="1001953"/>
            <a:ext cx="4120896" cy="1104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21"/>
              </a:lnSpc>
              <a:spcBef>
                <a:spcPts val="0"/>
              </a:spcBef>
              <a:spcAft>
                <a:spcPts val="0"/>
              </a:spcAft>
            </a:pPr>
            <a:r>
              <a:rPr sz="621" b="1" spc="112">
                <a:solidFill>
                  <a:srgbClr val="9CA3AF"/>
                </a:solidFill>
                <a:latin typeface="Poppins"/>
              </a:rPr>
              <a:t>QA / DESARROLLO /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7388" y="1001953"/>
            <a:ext cx="1506931" cy="1104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21"/>
              </a:lnSpc>
              <a:spcBef>
                <a:spcPts val="0"/>
              </a:spcBef>
              <a:spcAft>
                <a:spcPts val="0"/>
              </a:spcAft>
            </a:pPr>
            <a:r>
              <a:rPr sz="621" b="1" spc="112">
                <a:solidFill>
                  <a:srgbClr val="9CA3AF"/>
                </a:solidFill>
                <a:latin typeface="Poppins"/>
              </a:rPr>
              <a:t>ALERTAS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80" y="1180947"/>
            <a:ext cx="11216640" cy="127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80" y="1276959"/>
            <a:ext cx="11216640" cy="134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56" b="1" spc="106">
                <a:solidFill>
                  <a:srgbClr val="E07E3A"/>
                </a:solidFill>
                <a:latin typeface="Poppins"/>
              </a:rPr>
              <a:t>SOLVO SALES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1438808"/>
            <a:ext cx="487680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E07E3A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1664" y="1438808"/>
            <a:ext cx="3823411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11827"/>
                </a:solidFill>
                <a:latin typeface="Poppins"/>
              </a:rPr>
              <a:t>General US Openings</a:t>
            </a:r>
            <a:r>
              <a:rPr sz="648" b="0">
                <a:solidFill>
                  <a:srgbClr val="9CA3AF"/>
                </a:solidFill>
                <a:latin typeface="Open Sans"/>
              </a:rPr>
              <a:t>   Prospect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9459" y="1515618"/>
            <a:ext cx="788149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6324" y="1515618"/>
            <a:ext cx="721283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166534"/>
                </a:solidFill>
                <a:latin typeface="Poppins"/>
              </a:rPr>
              <a:t>En producción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3424" y="1438808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7388" y="1438808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80" y="1761134"/>
            <a:ext cx="112166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680" y="1761134"/>
            <a:ext cx="487680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E07E3A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1664" y="1761134"/>
            <a:ext cx="3823411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11827"/>
                </a:solidFill>
                <a:latin typeface="Poppins"/>
              </a:rPr>
              <a:t>Company Decision Maker</a:t>
            </a:r>
            <a:r>
              <a:rPr sz="648" b="0">
                <a:solidFill>
                  <a:srgbClr val="9CA3AF"/>
                </a:solidFill>
                <a:latin typeface="Open Sans"/>
              </a:rPr>
              <a:t>   Prospect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69459" y="1837944"/>
            <a:ext cx="788149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36324" y="1837944"/>
            <a:ext cx="721283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166534"/>
                </a:solidFill>
                <a:latin typeface="Poppins"/>
              </a:rPr>
              <a:t>En producción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3424" y="1761134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7388" y="1761134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7680" y="2083460"/>
            <a:ext cx="112166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680" y="2083460"/>
            <a:ext cx="487680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E07E3A"/>
                </a:solidFill>
                <a:latin typeface="Consola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1664" y="2083460"/>
            <a:ext cx="3823411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11827"/>
                </a:solidFill>
                <a:latin typeface="Poppins"/>
              </a:rPr>
              <a:t>Email Cold Outreach</a:t>
            </a:r>
            <a:r>
              <a:rPr sz="648" b="0">
                <a:solidFill>
                  <a:srgbClr val="9CA3AF"/>
                </a:solidFill>
                <a:latin typeface="Open Sans"/>
              </a:rPr>
              <a:t>   Prospect Engine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69459" y="2160270"/>
            <a:ext cx="788149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6324" y="2160270"/>
            <a:ext cx="721283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166534"/>
                </a:solidFill>
                <a:latin typeface="Poppins"/>
              </a:rPr>
              <a:t>En producción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3424" y="2083460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97388" y="2160270"/>
            <a:ext cx="1194323" cy="163357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3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60911" y="2160270"/>
            <a:ext cx="1130801" cy="1633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666"/>
              </a:lnSpc>
              <a:spcBef>
                <a:spcPts val="0"/>
              </a:spcBef>
              <a:spcAft>
                <a:spcPts val="0"/>
              </a:spcAft>
            </a:pPr>
            <a:r>
              <a:rPr sz="666" b="1">
                <a:solidFill>
                  <a:srgbClr val="B91C1C"/>
                </a:solidFill>
                <a:latin typeface="Poppins"/>
              </a:rPr>
              <a:t>! Sin conversión medible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" y="2405786"/>
            <a:ext cx="112166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7680" y="2405786"/>
            <a:ext cx="487680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E07E3A"/>
                </a:solidFill>
                <a:latin typeface="Consola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1664" y="2405786"/>
            <a:ext cx="3823411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11827"/>
                </a:solidFill>
                <a:latin typeface="Poppins"/>
              </a:rPr>
              <a:t>Landing de Agendamiento</a:t>
            </a:r>
            <a:r>
              <a:rPr sz="648" b="0">
                <a:solidFill>
                  <a:srgbClr val="9CA3AF"/>
                </a:solidFill>
                <a:latin typeface="Open Sans"/>
              </a:rPr>
              <a:t>   Prospect Engine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69459" y="2482596"/>
            <a:ext cx="556885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6324" y="2482596"/>
            <a:ext cx="490019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631" b="1">
                <a:solidFill>
                  <a:srgbClr val="166534"/>
                </a:solidFill>
                <a:latin typeface="Consolas"/>
              </a:rPr>
              <a:t>PROD </a:t>
            </a:r>
            <a:r>
              <a:rPr sz="702" b="1">
                <a:solidFill>
                  <a:srgbClr val="166534"/>
                </a:solidFill>
                <a:latin typeface="Poppins"/>
              </a:rPr>
              <a:t>MVP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3424" y="2482596"/>
            <a:ext cx="695349" cy="16870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6C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50289" y="2482596"/>
            <a:ext cx="628484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631" b="1">
                <a:solidFill>
                  <a:srgbClr val="92400E"/>
                </a:solidFill>
                <a:latin typeface="Consolas"/>
              </a:rPr>
              <a:t>QA </a:t>
            </a:r>
            <a:r>
              <a:rPr sz="702" b="1">
                <a:solidFill>
                  <a:srgbClr val="92400E"/>
                </a:solidFill>
                <a:latin typeface="Poppins"/>
              </a:rPr>
              <a:t>Release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7388" y="2405786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7680" y="2728112"/>
            <a:ext cx="112166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7680" y="2728112"/>
            <a:ext cx="487680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E07E3A"/>
                </a:solidFill>
                <a:latin typeface="Consolas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1664" y="2728112"/>
            <a:ext cx="3823411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11827"/>
                </a:solidFill>
                <a:latin typeface="Poppins"/>
              </a:rPr>
              <a:t>On-Demand Openings</a:t>
            </a:r>
            <a:r>
              <a:rPr sz="648" b="0">
                <a:solidFill>
                  <a:srgbClr val="9CA3AF"/>
                </a:solidFill>
                <a:latin typeface="Open Sans"/>
              </a:rPr>
              <a:t>   Prospect Engine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69459" y="2804922"/>
            <a:ext cx="788149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36324" y="2804922"/>
            <a:ext cx="721283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166534"/>
                </a:solidFill>
                <a:latin typeface="Poppins"/>
              </a:rPr>
              <a:t>En producción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3424" y="2728112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97388" y="2804922"/>
            <a:ext cx="488631" cy="163357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3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60911" y="2804922"/>
            <a:ext cx="425109" cy="1633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666"/>
              </a:lnSpc>
              <a:spcBef>
                <a:spcPts val="0"/>
              </a:spcBef>
              <a:spcAft>
                <a:spcPts val="0"/>
              </a:spcAft>
            </a:pPr>
            <a:r>
              <a:rPr sz="666" b="1">
                <a:solidFill>
                  <a:srgbClr val="B91C1C"/>
                </a:solidFill>
                <a:latin typeface="Poppins"/>
              </a:rPr>
              <a:t>! Sin uso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7680" y="3050438"/>
            <a:ext cx="112166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7680" y="3050438"/>
            <a:ext cx="487680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E07E3A"/>
                </a:solidFill>
                <a:latin typeface="Consolas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1664" y="3050438"/>
            <a:ext cx="3823411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11827"/>
                </a:solidFill>
                <a:latin typeface="Poppins"/>
              </a:rPr>
              <a:t>Reporte de Funnel</a:t>
            </a:r>
            <a:r>
              <a:rPr sz="648" b="0">
                <a:solidFill>
                  <a:srgbClr val="9CA3AF"/>
                </a:solidFill>
                <a:latin typeface="Open Sans"/>
              </a:rPr>
              <a:t>   Reporte y Métricas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69459" y="3127247"/>
            <a:ext cx="788149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36324" y="3127247"/>
            <a:ext cx="721283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166534"/>
                </a:solidFill>
                <a:latin typeface="Poppins"/>
              </a:rPr>
              <a:t>En producción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3424" y="3050438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97388" y="3050438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680" y="3372764"/>
            <a:ext cx="112166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7680" y="3372764"/>
            <a:ext cx="487680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E07E3A"/>
                </a:solidFill>
                <a:latin typeface="Consolas"/>
              </a:rPr>
              <a:t>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1664" y="3372764"/>
            <a:ext cx="3823411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11827"/>
                </a:solidFill>
                <a:latin typeface="Poppins"/>
              </a:rPr>
              <a:t>Reporte de Métricas de Sistema</a:t>
            </a:r>
            <a:r>
              <a:rPr sz="648" b="0">
                <a:solidFill>
                  <a:srgbClr val="9CA3AF"/>
                </a:solidFill>
                <a:latin typeface="Open Sans"/>
              </a:rPr>
              <a:t>   Reporte y Métricas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69459" y="3449574"/>
            <a:ext cx="788149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36324" y="3449574"/>
            <a:ext cx="721283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166534"/>
                </a:solidFill>
                <a:latin typeface="Poppins"/>
              </a:rPr>
              <a:t>En producción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3424" y="3372764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97388" y="3372764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7680" y="3695090"/>
            <a:ext cx="112166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7680" y="3695090"/>
            <a:ext cx="487680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E07E3A"/>
                </a:solidFill>
                <a:latin typeface="Consolas"/>
              </a:rP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1664" y="3695090"/>
            <a:ext cx="3823411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11827"/>
                </a:solidFill>
                <a:latin typeface="Poppins"/>
              </a:rPr>
              <a:t>Current Client US Openings</a:t>
            </a:r>
            <a:r>
              <a:rPr sz="648" b="0">
                <a:solidFill>
                  <a:srgbClr val="9CA3AF"/>
                </a:solidFill>
                <a:latin typeface="Open Sans"/>
              </a:rPr>
              <a:t>   Prospect Engine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69459" y="3771900"/>
            <a:ext cx="788149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36324" y="3771900"/>
            <a:ext cx="721283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166534"/>
                </a:solidFill>
                <a:latin typeface="Poppins"/>
              </a:rPr>
              <a:t>En producción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3424" y="3695090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197388" y="3771900"/>
            <a:ext cx="911940" cy="163357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3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60911" y="3771900"/>
            <a:ext cx="848418" cy="1633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666"/>
              </a:lnSpc>
              <a:spcBef>
                <a:spcPts val="0"/>
              </a:spcBef>
              <a:spcAft>
                <a:spcPts val="0"/>
              </a:spcAft>
            </a:pPr>
            <a:r>
              <a:rPr sz="666" b="1">
                <a:solidFill>
                  <a:srgbClr val="B91C1C"/>
                </a:solidFill>
                <a:latin typeface="Poppins"/>
              </a:rPr>
              <a:t>! Bugs detectados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7680" y="4017416"/>
            <a:ext cx="112166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7680" y="4017416"/>
            <a:ext cx="487680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E07E3A"/>
                </a:solidFill>
                <a:latin typeface="Consolas"/>
              </a:rPr>
              <a:t>09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1664" y="4017416"/>
            <a:ext cx="3823411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11827"/>
                </a:solidFill>
                <a:latin typeface="Poppins"/>
              </a:rPr>
              <a:t>Solvo Platform</a:t>
            </a:r>
            <a:r>
              <a:rPr sz="648" b="0">
                <a:solidFill>
                  <a:srgbClr val="9CA3AF"/>
                </a:solidFill>
                <a:latin typeface="Open Sans"/>
              </a:rPr>
              <a:t>   App Web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969459" y="4094226"/>
            <a:ext cx="783587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36324" y="4094226"/>
            <a:ext cx="716721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631" b="1">
                <a:solidFill>
                  <a:srgbClr val="166534"/>
                </a:solidFill>
                <a:latin typeface="Consolas"/>
              </a:rPr>
              <a:t>PROD </a:t>
            </a:r>
            <a:r>
              <a:rPr sz="702" b="1">
                <a:solidFill>
                  <a:srgbClr val="166534"/>
                </a:solidFill>
                <a:latin typeface="Poppins"/>
              </a:rPr>
              <a:t>Release 2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583424" y="4094226"/>
            <a:ext cx="698386" cy="16870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6C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50289" y="4094226"/>
            <a:ext cx="631520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631" b="1">
                <a:solidFill>
                  <a:srgbClr val="92400E"/>
                </a:solidFill>
                <a:latin typeface="Consolas"/>
              </a:rPr>
              <a:t>QA </a:t>
            </a:r>
            <a:r>
              <a:rPr sz="702" b="1">
                <a:solidFill>
                  <a:srgbClr val="92400E"/>
                </a:solidFill>
                <a:latin typeface="Poppins"/>
              </a:rPr>
              <a:t>Release 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97388" y="4017416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87680" y="4339742"/>
            <a:ext cx="112166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7680" y="4339742"/>
            <a:ext cx="487680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E07E3A"/>
                </a:solidFill>
                <a:latin typeface="Consolas"/>
              </a:rPr>
              <a:t>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1664" y="4339742"/>
            <a:ext cx="3823411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11827"/>
                </a:solidFill>
                <a:latin typeface="Poppins"/>
              </a:rPr>
              <a:t>Prospect Engine España</a:t>
            </a:r>
            <a:r>
              <a:rPr sz="648" b="0">
                <a:solidFill>
                  <a:srgbClr val="9CA3AF"/>
                </a:solidFill>
                <a:latin typeface="Open Sans"/>
              </a:rPr>
              <a:t>   Prospect Engine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69459" y="4339742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83424" y="4416552"/>
            <a:ext cx="1013088" cy="16870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650289" y="4416552"/>
            <a:ext cx="946223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631" b="1">
                <a:solidFill>
                  <a:srgbClr val="775AE5"/>
                </a:solidFill>
                <a:latin typeface="Consolas"/>
              </a:rPr>
              <a:t>PLAN </a:t>
            </a:r>
            <a:r>
              <a:rPr sz="702" b="1">
                <a:solidFill>
                  <a:srgbClr val="775AE5"/>
                </a:solidFill>
                <a:latin typeface="Poppins"/>
              </a:rPr>
              <a:t>MVP · sprint 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97388" y="4339742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87680" y="4662068"/>
            <a:ext cx="112166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87680" y="4758080"/>
            <a:ext cx="11216640" cy="134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56" b="1" spc="106">
                <a:solidFill>
                  <a:srgbClr val="E07E3A"/>
                </a:solidFill>
                <a:latin typeface="Poppins"/>
              </a:rPr>
              <a:t>SOLVO RECRUITER PLATFORM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7680" y="4919929"/>
            <a:ext cx="487680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E07E3A"/>
                </a:solidFill>
                <a:latin typeface="Consolas"/>
              </a:rPr>
              <a:t>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21664" y="4919929"/>
            <a:ext cx="3823411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11827"/>
                </a:solidFill>
                <a:latin typeface="Poppins"/>
              </a:rPr>
              <a:t>Talent Pool Scraping</a:t>
            </a:r>
            <a:r>
              <a:rPr sz="648" b="0">
                <a:solidFill>
                  <a:srgbClr val="9CA3AF"/>
                </a:solidFill>
                <a:latin typeface="Open Sans"/>
              </a:rPr>
              <a:t>   Pipeline n8n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969459" y="4996738"/>
            <a:ext cx="783587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36324" y="4996738"/>
            <a:ext cx="716721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631" b="1">
                <a:solidFill>
                  <a:srgbClr val="166534"/>
                </a:solidFill>
                <a:latin typeface="Consolas"/>
              </a:rPr>
              <a:t>PROD </a:t>
            </a:r>
            <a:r>
              <a:rPr sz="702" b="1">
                <a:solidFill>
                  <a:srgbClr val="166534"/>
                </a:solidFill>
                <a:latin typeface="Poppins"/>
              </a:rPr>
              <a:t>Release 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83424" y="4919929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197388" y="4996738"/>
            <a:ext cx="1252102" cy="163357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3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260911" y="4996738"/>
            <a:ext cx="1188580" cy="1633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666"/>
              </a:lnSpc>
              <a:spcBef>
                <a:spcPts val="0"/>
              </a:spcBef>
              <a:spcAft>
                <a:spcPts val="0"/>
              </a:spcAft>
            </a:pPr>
            <a:r>
              <a:rPr sz="666" b="1">
                <a:solidFill>
                  <a:srgbClr val="B91C1C"/>
                </a:solidFill>
                <a:latin typeface="Poppins"/>
              </a:rPr>
              <a:t>! Desactivación acordada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87680" y="5242255"/>
            <a:ext cx="112166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87680" y="5242255"/>
            <a:ext cx="487680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E07E3A"/>
                </a:solidFill>
                <a:latin typeface="Consolas"/>
              </a:rPr>
              <a:t>12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21664" y="5242255"/>
            <a:ext cx="3823411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11827"/>
                </a:solidFill>
                <a:latin typeface="Poppins"/>
              </a:rPr>
              <a:t>Solvo Recruiter Platform</a:t>
            </a:r>
            <a:r>
              <a:rPr sz="648" b="0">
                <a:solidFill>
                  <a:srgbClr val="9CA3AF"/>
                </a:solidFill>
                <a:latin typeface="Open Sans"/>
              </a:rPr>
              <a:t>   App web interna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969459" y="5242255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583424" y="5319064"/>
            <a:ext cx="695349" cy="16870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6C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650289" y="5319064"/>
            <a:ext cx="628484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631" b="1">
                <a:solidFill>
                  <a:srgbClr val="92400E"/>
                </a:solidFill>
                <a:latin typeface="Consolas"/>
              </a:rPr>
              <a:t>QA </a:t>
            </a:r>
            <a:r>
              <a:rPr sz="702" b="1">
                <a:solidFill>
                  <a:srgbClr val="92400E"/>
                </a:solidFill>
                <a:latin typeface="Poppins"/>
              </a:rPr>
              <a:t>Release 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197388" y="5242255"/>
            <a:ext cx="365759" cy="322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87680" y="5564581"/>
            <a:ext cx="1121664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02" name="Picture 101" descr="SolvoGenAI_Ico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6580593"/>
            <a:ext cx="150876" cy="150876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736092" y="6591223"/>
            <a:ext cx="11065764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29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MAPA DE COMPONENTES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31578" y="480060"/>
            <a:ext cx="635861" cy="172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72"/>
              </a:lnSpc>
              <a:spcBef>
                <a:spcPts val="0"/>
              </a:spcBef>
              <a:spcAft>
                <a:spcPts val="0"/>
              </a:spcAft>
            </a:pPr>
            <a:r>
              <a:rPr sz="972" b="1" spc="194">
                <a:solidFill>
                  <a:srgbClr val="DAD5F2"/>
                </a:solidFill>
                <a:latin typeface="Poppins"/>
              </a:rPr>
              <a:t>01 /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975360" y="2683002"/>
            <a:ext cx="480060" cy="38100"/>
          </a:xfrm>
          <a:prstGeom prst="rect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60" y="2940558"/>
            <a:ext cx="6759244" cy="5431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76"/>
              </a:lnSpc>
              <a:spcBef>
                <a:spcPts val="0"/>
              </a:spcBef>
              <a:spcAft>
                <a:spcPts val="0"/>
              </a:spcAft>
            </a:pPr>
            <a:r>
              <a:rPr sz="3888" b="1">
                <a:solidFill>
                  <a:srgbClr val="FFFFFF"/>
                </a:solidFill>
                <a:latin typeface="Poppins"/>
              </a:rPr>
              <a:t>Solvo Sales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3675735"/>
            <a:ext cx="6759244" cy="499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04" b="0">
                <a:solidFill>
                  <a:srgbClr val="E4E0F6"/>
                </a:solidFill>
                <a:latin typeface="Open Sans"/>
              </a:rPr>
              <a:t>Detección de señales de contratación, identificación de decisores, contacto en frío, aplicación comercial y reportes de seguimiento.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41665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9256" y="288036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SOLVO SALES PLATFORM · PROSPECT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506120"/>
            <a:ext cx="11216640" cy="331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11827"/>
                </a:solidFill>
                <a:latin typeface="Poppins"/>
              </a:rPr>
              <a:t>General US Openings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37616" y="579843"/>
            <a:ext cx="770659" cy="183794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37616" y="579843"/>
            <a:ext cx="770659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4B5563"/>
                </a:solidFill>
                <a:latin typeface="Consolas"/>
              </a:rPr>
              <a:t>Pipeline n8n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4976164"/>
            <a:ext cx="11216640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SPRINTS TRABAJADOS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3461" y="4958334"/>
            <a:ext cx="203998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33461" y="4958334"/>
            <a:ext cx="203998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6227" y="4958334"/>
            <a:ext cx="203998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6227" y="4958334"/>
            <a:ext cx="203998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8994" y="4958334"/>
            <a:ext cx="203998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8994" y="4958334"/>
            <a:ext cx="203998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91761" y="4958334"/>
            <a:ext cx="203998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1761" y="4958334"/>
            <a:ext cx="203998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44527" y="495833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44527" y="495833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44429" y="495833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44429" y="495833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S19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44332" y="495833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4332" y="495833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4234" y="495833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4234" y="495833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7680" y="5191506"/>
            <a:ext cx="3657600" cy="1296162"/>
          </a:xfrm>
          <a:prstGeom prst="roundRect">
            <a:avLst>
              <a:gd name="adj" fmla="val 846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0380" y="5268315"/>
            <a:ext cx="38100" cy="1142542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176" y="5290261"/>
            <a:ext cx="640588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1308" y="5324551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14–25 sep</a:t>
            </a:r>
          </a:p>
        </p:txBody>
      </p:sp>
      <p:sp>
        <p:nvSpPr>
          <p:cNvPr id="28" name="Oval 27"/>
          <p:cNvSpPr/>
          <p:nvPr/>
        </p:nvSpPr>
        <p:spPr>
          <a:xfrm>
            <a:off x="646176" y="5585155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2188" y="5530291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Barrido diario de Indeed por posición del ICP y ciudad</a:t>
            </a:r>
          </a:p>
        </p:txBody>
      </p:sp>
      <p:sp>
        <p:nvSpPr>
          <p:cNvPr id="30" name="Oval 29"/>
          <p:cNvSpPr/>
          <p:nvPr/>
        </p:nvSpPr>
        <p:spPr>
          <a:xfrm>
            <a:off x="646176" y="5771007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2188" y="5716143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Clasificación de la vacante por viabilidad remota y posición del catálogo</a:t>
            </a:r>
          </a:p>
        </p:txBody>
      </p:sp>
      <p:sp>
        <p:nvSpPr>
          <p:cNvPr id="32" name="Oval 31"/>
          <p:cNvSpPr/>
          <p:nvPr/>
        </p:nvSpPr>
        <p:spPr>
          <a:xfrm>
            <a:off x="646176" y="6104991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188" y="6050127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Calificación de la empresa por su ajuste al ICP</a:t>
            </a:r>
          </a:p>
        </p:txBody>
      </p:sp>
      <p:sp>
        <p:nvSpPr>
          <p:cNvPr id="34" name="Oval 33"/>
          <p:cNvSpPr/>
          <p:nvPr/>
        </p:nvSpPr>
        <p:spPr>
          <a:xfrm>
            <a:off x="646176" y="6290843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2188" y="6235979"/>
            <a:ext cx="2885959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Bucle infinito en el scraping del detalle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01299" y="6248131"/>
            <a:ext cx="285484" cy="12382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3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01299" y="6248131"/>
            <a:ext cx="285484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B91C1C"/>
                </a:solidFill>
                <a:latin typeface="Poppins"/>
              </a:rPr>
              <a:t>BUG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67200" y="5191506"/>
            <a:ext cx="3657600" cy="1296162"/>
          </a:xfrm>
          <a:prstGeom prst="roundRect">
            <a:avLst>
              <a:gd name="adj" fmla="val 846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79900" y="5268315"/>
            <a:ext cx="38100" cy="1142542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25696" y="5290261"/>
            <a:ext cx="672413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32653" y="5324551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28 sep–9 oct</a:t>
            </a:r>
          </a:p>
        </p:txBody>
      </p:sp>
      <p:sp>
        <p:nvSpPr>
          <p:cNvPr id="42" name="Oval 41"/>
          <p:cNvSpPr/>
          <p:nvPr/>
        </p:nvSpPr>
        <p:spPr>
          <a:xfrm>
            <a:off x="4425696" y="5585155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1708" y="5530291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Perfil y datos de contacto de la empresa, listos para importar en Apollo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5191506"/>
            <a:ext cx="3657600" cy="1296162"/>
          </a:xfrm>
          <a:prstGeom prst="roundRect">
            <a:avLst>
              <a:gd name="adj" fmla="val 8465"/>
            </a:avLst>
          </a:prstGeom>
          <a:solidFill>
            <a:srgbClr val="F7F4FF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59420" y="5268315"/>
            <a:ext cx="38100" cy="1142542"/>
          </a:xfrm>
          <a:prstGeom prst="rect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5216" y="5290261"/>
            <a:ext cx="634544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74304" y="5324551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13–24 oct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106091" y="5297119"/>
            <a:ext cx="439732" cy="152247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F1ED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62669" y="5297119"/>
            <a:ext cx="383154" cy="152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594"/>
              </a:lnSpc>
              <a:spcBef>
                <a:spcPts val="0"/>
              </a:spcBef>
              <a:spcAft>
                <a:spcPts val="0"/>
              </a:spcAft>
            </a:pPr>
            <a:r>
              <a:rPr sz="594" b="1">
                <a:solidFill>
                  <a:srgbClr val="775AE5"/>
                </a:solidFill>
                <a:latin typeface="Poppins"/>
              </a:rPr>
              <a:t>En curso</a:t>
            </a:r>
          </a:p>
        </p:txBody>
      </p:sp>
      <p:sp>
        <p:nvSpPr>
          <p:cNvPr id="50" name="Oval 49"/>
          <p:cNvSpPr/>
          <p:nvPr/>
        </p:nvSpPr>
        <p:spPr>
          <a:xfrm>
            <a:off x="8205216" y="5585155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01228" y="5530291"/>
            <a:ext cx="238714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Nombre de la empresa según su forma oficial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761526" y="5542443"/>
            <a:ext cx="784297" cy="12382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B9C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61526" y="5542443"/>
            <a:ext cx="784297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1D4ED8"/>
                </a:solidFill>
                <a:latin typeface="Poppins"/>
              </a:rPr>
              <a:t>FIX DE CALIDAD</a:t>
            </a:r>
          </a:p>
        </p:txBody>
      </p:sp>
      <p:sp>
        <p:nvSpPr>
          <p:cNvPr id="54" name="Oval 53"/>
          <p:cNvSpPr/>
          <p:nvPr/>
        </p:nvSpPr>
        <p:spPr>
          <a:xfrm>
            <a:off x="8205216" y="5771007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01228" y="5716143"/>
            <a:ext cx="238714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Normalización con la publicación completa del portal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761526" y="5728295"/>
            <a:ext cx="784297" cy="12382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B9C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61526" y="5728295"/>
            <a:ext cx="784297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1D4ED8"/>
                </a:solidFill>
                <a:latin typeface="Poppins"/>
              </a:rPr>
              <a:t>FIX DE CALIDAD</a:t>
            </a:r>
          </a:p>
        </p:txBody>
      </p:sp>
      <p:sp>
        <p:nvSpPr>
          <p:cNvPr id="58" name="Oval 57"/>
          <p:cNvSpPr/>
          <p:nvPr/>
        </p:nvSpPr>
        <p:spPr>
          <a:xfrm>
            <a:off x="8205216" y="6104991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01228" y="6050127"/>
            <a:ext cx="2885959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Error en el proceso de carga de datos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260339" y="6062279"/>
            <a:ext cx="285484" cy="12382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3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260339" y="6062279"/>
            <a:ext cx="285484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B91C1C"/>
                </a:solidFill>
                <a:latin typeface="Poppins"/>
              </a:rPr>
              <a:t>BUG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87680" y="940231"/>
            <a:ext cx="4602480" cy="1916468"/>
          </a:xfrm>
          <a:prstGeom prst="roundRect">
            <a:avLst>
              <a:gd name="adj" fmla="val 5725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6176" y="1049959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QUÉ HACE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6176" y="1226896"/>
            <a:ext cx="4285488" cy="5404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111827"/>
                </a:solidFill>
                <a:latin typeface="Open Sans"/>
              </a:rPr>
              <a:t>Identifica vacantes del mercado estadounidense en las posiciones del ICP, evalúa su viabilidad para talento remoto y califica a la empresa que las publica.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6176" y="2602953"/>
            <a:ext cx="4285488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4B5563"/>
                </a:solidFill>
                <a:latin typeface="Poppins"/>
              </a:rPr>
              <a:t>Corre en  </a:t>
            </a:r>
            <a:r>
              <a:rPr sz="810" b="0">
                <a:solidFill>
                  <a:srgbClr val="9CA3AF"/>
                </a:solidFill>
                <a:latin typeface="Open Sans"/>
              </a:rPr>
              <a:t>n8n · VM dedicada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212080" y="940231"/>
            <a:ext cx="3657600" cy="1916468"/>
          </a:xfrm>
          <a:prstGeom prst="roundRect">
            <a:avLst>
              <a:gd name="adj" fmla="val 5725"/>
            </a:avLst>
          </a:prstGeom>
          <a:solidFill>
            <a:srgbClr val="5A4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70576" y="1049959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DAD5F2"/>
                </a:solidFill>
                <a:latin typeface="Poppins"/>
              </a:rPr>
              <a:t>VALOR PARA EL NEGOCIO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70576" y="1226896"/>
            <a:ext cx="3340608" cy="394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Poppins"/>
              </a:rPr>
              <a:t>Señales diarias de vacantes que Solvo puede cubrir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70576" y="1682953"/>
            <a:ext cx="3340608" cy="8374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928" b="0">
                <a:solidFill>
                  <a:srgbClr val="E4E0F6"/>
                </a:solidFill>
                <a:latin typeface="Open Sans"/>
              </a:rPr>
              <a:t>El equipo comercial dispone cada día, de forma automatizada, de las vacantes abiertas en el mercado estadounidense que Solvo puede cubrir con talento remoto y de las empresas que las publican, sin monitorear portales de empleo.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91600" y="940231"/>
            <a:ext cx="2712719" cy="1916468"/>
          </a:xfrm>
          <a:prstGeom prst="roundRect">
            <a:avLst>
              <a:gd name="adj" fmla="val 5725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50096" y="1049959"/>
            <a:ext cx="255422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ESTATUS ACTUAL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50096" y="1226896"/>
            <a:ext cx="788149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16961" y="1226896"/>
            <a:ext cx="721283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166534"/>
                </a:solidFill>
                <a:latin typeface="Poppins"/>
              </a:rPr>
              <a:t>En producción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50096" y="1471041"/>
            <a:ext cx="2395727" cy="642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891" b="0">
                <a:solidFill>
                  <a:srgbClr val="4B5563"/>
                </a:solidFill>
                <a:latin typeface="Open Sans"/>
              </a:rPr>
              <a:t>La versión por posición del ICP opera en producción desde el 30 de septiembre (sprint 19). Ajustes de normalización en curso.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87680" y="2945853"/>
            <a:ext cx="4602480" cy="1916468"/>
          </a:xfrm>
          <a:prstGeom prst="roundRect">
            <a:avLst>
              <a:gd name="adj" fmla="val 5725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176" y="3055581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CONEXIONES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6176" y="3239376"/>
            <a:ext cx="1457065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Company Decision Maker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00777" y="3239376"/>
            <a:ext cx="2730886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recibe las empresas calificadas para identificar a sus decisores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6176" y="3621641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Email Cold Outreach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00777" y="3621641"/>
            <a:ext cx="2730886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utiliza sus vacantes viables en el contenido del correo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6176" y="4003906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Solvo Platform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00777" y="4003906"/>
            <a:ext cx="2730886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presenta sus empresas y vacantes al equipo comercial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212080" y="2945853"/>
            <a:ext cx="2712719" cy="1916468"/>
          </a:xfrm>
          <a:prstGeom prst="roundRect">
            <a:avLst>
              <a:gd name="adj" fmla="val 5725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70576" y="3055581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APIS EXTERNAS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370576" y="3239376"/>
            <a:ext cx="585426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70576" y="3239376"/>
            <a:ext cx="585426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Oxylabs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41346" y="3276238"/>
            <a:ext cx="1724957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búsqueda y detalle de vacantes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370576" y="3510953"/>
            <a:ext cx="539717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70576" y="3510953"/>
            <a:ext cx="539717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OpenAI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95637" y="3510953"/>
            <a:ext cx="1770666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viabilidad y normalización de la vacante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370576" y="3838079"/>
            <a:ext cx="485837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70576" y="3838079"/>
            <a:ext cx="485837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Apollo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41757" y="3838079"/>
            <a:ext cx="1824546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perfil de la empresa: industria, tamaño e ingresos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046720" y="2945853"/>
            <a:ext cx="3657600" cy="1916468"/>
          </a:xfrm>
          <a:prstGeom prst="roundRect">
            <a:avLst>
              <a:gd name="adj" fmla="val 5725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205216" y="3055581"/>
            <a:ext cx="349910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ÉPICAS</a:t>
            </a:r>
          </a:p>
        </p:txBody>
      </p:sp>
      <p:sp>
        <p:nvSpPr>
          <p:cNvPr id="96" name="TextBox 95">
            <a:hlinkClick r:id="rId2"/>
          </p:cNvPr>
          <p:cNvSpPr txBox="1"/>
          <p:nvPr/>
        </p:nvSpPr>
        <p:spPr>
          <a:xfrm>
            <a:off x="8205216" y="3239376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General US Openings — MVP (barrido del mercado con clasificación remota por IA)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033760" y="3239376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#77215</a:t>
            </a:r>
          </a:p>
        </p:txBody>
      </p:sp>
      <p:sp>
        <p:nvSpPr>
          <p:cNvPr id="98" name="TextBox 97">
            <a:hlinkClick r:id="rId3"/>
          </p:cNvPr>
          <p:cNvSpPr txBox="1"/>
          <p:nvPr/>
        </p:nvSpPr>
        <p:spPr>
          <a:xfrm>
            <a:off x="8205216" y="3549357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General US Openings — CR Migración de Infraestructura (paso a Azure)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033760" y="3549357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#82712</a:t>
            </a:r>
          </a:p>
        </p:txBody>
      </p:sp>
      <p:sp>
        <p:nvSpPr>
          <p:cNvPr id="100" name="TextBox 99">
            <a:hlinkClick r:id="rId4"/>
          </p:cNvPr>
          <p:cNvSpPr txBox="1"/>
          <p:nvPr/>
        </p:nvSpPr>
        <p:spPr>
          <a:xfrm>
            <a:off x="8205216" y="3859339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Ajustes Prospect Engine (barrido por posición del ICP y calificación al detectar)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033760" y="3859339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#95102</a:t>
            </a:r>
          </a:p>
        </p:txBody>
      </p:sp>
      <p:pic>
        <p:nvPicPr>
          <p:cNvPr id="102" name="Picture 101" descr="SolvoGenAI_Icon_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" y="6580593"/>
            <a:ext cx="150876" cy="150876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736092" y="6591223"/>
            <a:ext cx="11065764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29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MAPA DE COMPONENTES · 01/12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41665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9256" y="288036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SOLVO SALES PLATFORM · PROSPECT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506120"/>
            <a:ext cx="11216640" cy="331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11827"/>
                </a:solidFill>
                <a:latin typeface="Poppins"/>
              </a:rPr>
              <a:t>Company Decision Maker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9614" y="579843"/>
            <a:ext cx="770659" cy="183794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9614" y="579843"/>
            <a:ext cx="770659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4B5563"/>
                </a:solidFill>
                <a:latin typeface="Consolas"/>
              </a:rPr>
              <a:t>Pipeline n8n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5162016"/>
            <a:ext cx="11216640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SPRINTS TRABAJADOS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3461" y="5144185"/>
            <a:ext cx="203998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33461" y="5144185"/>
            <a:ext cx="203998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6227" y="5144185"/>
            <a:ext cx="203998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6227" y="5144185"/>
            <a:ext cx="203998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8994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8994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8896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8896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8798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38798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8700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38700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7680" y="5377357"/>
            <a:ext cx="3657600" cy="1110310"/>
          </a:xfrm>
          <a:prstGeom prst="roundRect">
            <a:avLst>
              <a:gd name="adj" fmla="val 988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380" y="5454167"/>
            <a:ext cx="38100" cy="956691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76" y="5476113"/>
            <a:ext cx="640588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1308" y="5510403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14–25 sep</a:t>
            </a:r>
          </a:p>
        </p:txBody>
      </p:sp>
      <p:sp>
        <p:nvSpPr>
          <p:cNvPr id="24" name="Oval 23"/>
          <p:cNvSpPr/>
          <p:nvPr/>
        </p:nvSpPr>
        <p:spPr>
          <a:xfrm>
            <a:off x="646176" y="5771007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188" y="5716143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Búsqueda de decisores de las empresas calificadas</a:t>
            </a:r>
          </a:p>
        </p:txBody>
      </p:sp>
      <p:sp>
        <p:nvSpPr>
          <p:cNvPr id="26" name="Oval 25"/>
          <p:cNvSpPr/>
          <p:nvPr/>
        </p:nvSpPr>
        <p:spPr>
          <a:xfrm>
            <a:off x="646176" y="5956858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188" y="5901994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Análisis del perfil para revelar solo a quien decide la contratación</a:t>
            </a:r>
          </a:p>
        </p:txBody>
      </p:sp>
      <p:sp>
        <p:nvSpPr>
          <p:cNvPr id="28" name="Oval 27"/>
          <p:cNvSpPr/>
          <p:nvPr/>
        </p:nvSpPr>
        <p:spPr>
          <a:xfrm>
            <a:off x="646176" y="6290843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2188" y="6235979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Email y teléfono verificados de cada decisor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67200" y="5377357"/>
            <a:ext cx="3657600" cy="1110310"/>
          </a:xfrm>
          <a:prstGeom prst="roundRect">
            <a:avLst>
              <a:gd name="adj" fmla="val 988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79900" y="5454167"/>
            <a:ext cx="38100" cy="956691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5476113"/>
            <a:ext cx="672413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32653" y="5510403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28 sep–9 oct</a:t>
            </a:r>
          </a:p>
        </p:txBody>
      </p:sp>
      <p:sp>
        <p:nvSpPr>
          <p:cNvPr id="34" name="Oval 33"/>
          <p:cNvSpPr/>
          <p:nvPr/>
        </p:nvSpPr>
        <p:spPr>
          <a:xfrm>
            <a:off x="4425696" y="5771007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1708" y="5716143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Investigación y calificación a pedido de una empresa cargada manualmente</a:t>
            </a:r>
          </a:p>
        </p:txBody>
      </p:sp>
      <p:sp>
        <p:nvSpPr>
          <p:cNvPr id="36" name="Oval 35"/>
          <p:cNvSpPr/>
          <p:nvPr/>
        </p:nvSpPr>
        <p:spPr>
          <a:xfrm>
            <a:off x="4425696" y="6104991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1708" y="6050127"/>
            <a:ext cx="238714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Datos completos del contacto revelado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82006" y="6062279"/>
            <a:ext cx="784297" cy="12382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B9C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82006" y="6062279"/>
            <a:ext cx="784297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1D4ED8"/>
                </a:solidFill>
                <a:latin typeface="Poppins"/>
              </a:rPr>
              <a:t>FIX DE CALIDAD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5377357"/>
            <a:ext cx="3657600" cy="1110310"/>
          </a:xfrm>
          <a:prstGeom prst="roundRect">
            <a:avLst>
              <a:gd name="adj" fmla="val 9882"/>
            </a:avLst>
          </a:prstGeom>
          <a:solidFill>
            <a:srgbClr val="F7F4FF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59420" y="5454167"/>
            <a:ext cx="38100" cy="956691"/>
          </a:xfrm>
          <a:prstGeom prst="rect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05216" y="5476113"/>
            <a:ext cx="634544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74304" y="5510403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13–24 oct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106091" y="5482971"/>
            <a:ext cx="439732" cy="152247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F1ED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62669" y="5482971"/>
            <a:ext cx="383154" cy="152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594"/>
              </a:lnSpc>
              <a:spcBef>
                <a:spcPts val="0"/>
              </a:spcBef>
              <a:spcAft>
                <a:spcPts val="0"/>
              </a:spcAft>
            </a:pPr>
            <a:r>
              <a:rPr sz="594" b="1">
                <a:solidFill>
                  <a:srgbClr val="775AE5"/>
                </a:solidFill>
                <a:latin typeface="Poppins"/>
              </a:rPr>
              <a:t>En curso</a:t>
            </a:r>
          </a:p>
        </p:txBody>
      </p:sp>
      <p:sp>
        <p:nvSpPr>
          <p:cNvPr id="46" name="Oval 45"/>
          <p:cNvSpPr/>
          <p:nvPr/>
        </p:nvSpPr>
        <p:spPr>
          <a:xfrm>
            <a:off x="8205216" y="5771007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01228" y="5716143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Decisores de la empresa investigada a pedido</a:t>
            </a:r>
          </a:p>
        </p:txBody>
      </p:sp>
      <p:sp>
        <p:nvSpPr>
          <p:cNvPr id="48" name="Oval 47"/>
          <p:cNvSpPr/>
          <p:nvPr/>
        </p:nvSpPr>
        <p:spPr>
          <a:xfrm>
            <a:off x="8205216" y="5956858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01228" y="5901994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Retorno del resultado de la investigación a Solvo Platform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7680" y="940231"/>
            <a:ext cx="4602480" cy="2009394"/>
          </a:xfrm>
          <a:prstGeom prst="roundRect">
            <a:avLst>
              <a:gd name="adj" fmla="val 546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6176" y="1049959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QUÉ HACE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176" y="1226896"/>
            <a:ext cx="4285488" cy="360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111827"/>
                </a:solidFill>
                <a:latin typeface="Open Sans"/>
              </a:rPr>
              <a:t>Identifica a los decisores de contratación de cada empresa calificada y obtiene sus datos de contacto verificados.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176" y="2695879"/>
            <a:ext cx="4285488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4B5563"/>
                </a:solidFill>
                <a:latin typeface="Poppins"/>
              </a:rPr>
              <a:t>Corre en  </a:t>
            </a:r>
            <a:r>
              <a:rPr sz="810" b="0">
                <a:solidFill>
                  <a:srgbClr val="9CA3AF"/>
                </a:solidFill>
                <a:latin typeface="Open Sans"/>
              </a:rPr>
              <a:t>n8n · VM dedicada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12080" y="940231"/>
            <a:ext cx="3657600" cy="2009394"/>
          </a:xfrm>
          <a:prstGeom prst="roundRect">
            <a:avLst>
              <a:gd name="adj" fmla="val 5460"/>
            </a:avLst>
          </a:prstGeom>
          <a:solidFill>
            <a:srgbClr val="5A4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70576" y="1049959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DAD5F2"/>
                </a:solidFill>
                <a:latin typeface="Poppins"/>
              </a:rPr>
              <a:t>VALOR PARA EL NEGOCIO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70576" y="1226896"/>
            <a:ext cx="3340608" cy="394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Poppins"/>
              </a:rPr>
              <a:t>Contacto directo con los decisores de contratación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70576" y="1682953"/>
            <a:ext cx="3340608" cy="502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928" b="0">
                <a:solidFill>
                  <a:srgbClr val="E4E0F6"/>
                </a:solidFill>
                <a:latin typeface="Open Sans"/>
              </a:rPr>
              <a:t>Los SDRs reciben cada empresa calificada con sus decisores identificados y datos de contacto verificados, con el consumo de créditos de Apollo concentrado en ellos.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70576" y="2455164"/>
            <a:ext cx="3340608" cy="9525"/>
          </a:xfrm>
          <a:prstGeom prst="rect">
            <a:avLst/>
          </a:prstGeom>
          <a:solidFill>
            <a:srgbClr val="DAD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70576" y="2537460"/>
            <a:ext cx="488029" cy="302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FDBA8C"/>
                </a:solidFill>
                <a:latin typeface="Poppins"/>
              </a:rPr>
              <a:t>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29725" y="2487310"/>
            <a:ext cx="2781458" cy="402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DAD5F2"/>
                </a:solidFill>
                <a:latin typeface="Open Sans"/>
              </a:rPr>
              <a:t>de contactabilidad de los prospectos entregados a los SDRs, según feedback parcial, frente al 3–4% de la versión anterior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91600" y="940231"/>
            <a:ext cx="2712719" cy="2009394"/>
          </a:xfrm>
          <a:prstGeom prst="roundRect">
            <a:avLst>
              <a:gd name="adj" fmla="val 546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50096" y="1049959"/>
            <a:ext cx="255422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ESTATUS ACTUAL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50096" y="1226896"/>
            <a:ext cx="788149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16961" y="1226896"/>
            <a:ext cx="721283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166534"/>
                </a:solidFill>
                <a:latin typeface="Poppins"/>
              </a:rPr>
              <a:t>En producción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50096" y="1471041"/>
            <a:ext cx="2395727" cy="642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891" b="0">
                <a:solidFill>
                  <a:srgbClr val="4B5563"/>
                </a:solidFill>
                <a:latin typeface="Open Sans"/>
              </a:rPr>
              <a:t>El descubrimiento de decisores rediseñado opera en producción desde el sprint 19. La investigación manual a pedido se encuentra en desarrollo.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87680" y="3038779"/>
            <a:ext cx="4602480" cy="2009394"/>
          </a:xfrm>
          <a:prstGeom prst="roundRect">
            <a:avLst>
              <a:gd name="adj" fmla="val 546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6176" y="3148507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CONEXIONES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6176" y="3332302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General US Openings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00777" y="3332302"/>
            <a:ext cx="2730886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provee las empresas calificadas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6176" y="3564582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Email Cold Outreach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00777" y="3564582"/>
            <a:ext cx="2730886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recibe los decisores y la investigación de la empresa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6176" y="3946847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Solvo Platform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00777" y="3946847"/>
            <a:ext cx="2730886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solicita la investigación de una empresa por webhook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212080" y="3038779"/>
            <a:ext cx="2712719" cy="2009394"/>
          </a:xfrm>
          <a:prstGeom prst="roundRect">
            <a:avLst>
              <a:gd name="adj" fmla="val 546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70576" y="3148507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APIS EXTERNAS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370576" y="3332302"/>
            <a:ext cx="485837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70576" y="3332302"/>
            <a:ext cx="485837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Apollo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1757" y="3369163"/>
            <a:ext cx="1824546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decisores y revelación del contacto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370576" y="3603879"/>
            <a:ext cx="758394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70576" y="3603879"/>
            <a:ext cx="758394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Bright Data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4314" y="3603879"/>
            <a:ext cx="1551989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respaldo con LinkedIn y web corporativa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370576" y="3931005"/>
            <a:ext cx="512279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70576" y="3931005"/>
            <a:ext cx="512279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Hunter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68199" y="3967867"/>
            <a:ext cx="179810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verificación de correos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370576" y="4202582"/>
            <a:ext cx="539717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70576" y="4202582"/>
            <a:ext cx="539717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OpenAI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95637" y="4239444"/>
            <a:ext cx="1770666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análisis del perfil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046720" y="3038779"/>
            <a:ext cx="3657600" cy="2009394"/>
          </a:xfrm>
          <a:prstGeom prst="roundRect">
            <a:avLst>
              <a:gd name="adj" fmla="val 546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05216" y="3148507"/>
            <a:ext cx="349910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ÉPICAS</a:t>
            </a:r>
          </a:p>
        </p:txBody>
      </p:sp>
      <p:sp>
        <p:nvSpPr>
          <p:cNvPr id="90" name="TextBox 89">
            <a:hlinkClick r:id="rId2"/>
          </p:cNvPr>
          <p:cNvSpPr txBox="1"/>
          <p:nvPr/>
        </p:nvSpPr>
        <p:spPr>
          <a:xfrm>
            <a:off x="8205216" y="3332302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Company &amp; Decision-Makers — MVP (investigación multi-agente y sales brief)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33760" y="3332302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#75746</a:t>
            </a:r>
          </a:p>
        </p:txBody>
      </p:sp>
      <p:sp>
        <p:nvSpPr>
          <p:cNvPr id="92" name="TextBox 91">
            <a:hlinkClick r:id="rId3"/>
          </p:cNvPr>
          <p:cNvSpPr txBox="1"/>
          <p:nvPr/>
        </p:nvSpPr>
        <p:spPr>
          <a:xfrm>
            <a:off x="8205216" y="3642283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Company &amp; Decision-Makers — Release 2 (enriquecimiento, sales pitch y decisores verificados)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033760" y="3642283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#84882</a:t>
            </a:r>
          </a:p>
        </p:txBody>
      </p:sp>
      <p:sp>
        <p:nvSpPr>
          <p:cNvPr id="94" name="TextBox 93">
            <a:hlinkClick r:id="rId4"/>
          </p:cNvPr>
          <p:cNvSpPr txBox="1"/>
          <p:nvPr/>
        </p:nvSpPr>
        <p:spPr>
          <a:xfrm>
            <a:off x="8205216" y="3952265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Ajustes Prospect Engine (decisores calificados antes de revelar e investigación manual)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033760" y="3952265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#95102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05216" y="4262247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Normalización de Datos de Prospección — CR (empresas investigadas a tablas compartidas)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033760" y="4262247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sin Epic</a:t>
            </a:r>
          </a:p>
        </p:txBody>
      </p:sp>
      <p:pic>
        <p:nvPicPr>
          <p:cNvPr id="98" name="Picture 97" descr="SolvoGenAI_Icon_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" y="6580593"/>
            <a:ext cx="150876" cy="150876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736092" y="6591223"/>
            <a:ext cx="11065764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29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MAPA DE COMPONENTES · 02/12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41665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9256" y="288036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SOLVO SALES PLATFORM · PROSPECT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506120"/>
            <a:ext cx="11216640" cy="331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11827"/>
                </a:solidFill>
                <a:latin typeface="Poppins"/>
              </a:rPr>
              <a:t>Email Cold Outreach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68218" y="579843"/>
            <a:ext cx="770659" cy="183794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68218" y="579843"/>
            <a:ext cx="770659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4B5563"/>
                </a:solidFill>
                <a:latin typeface="Consolas"/>
              </a:rPr>
              <a:t>Pipeline n8n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5013883"/>
            <a:ext cx="11216640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SPRINTS TRABAJADOS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3461" y="4996053"/>
            <a:ext cx="203998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33461" y="4996053"/>
            <a:ext cx="203998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6227" y="4996053"/>
            <a:ext cx="203998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6227" y="4996053"/>
            <a:ext cx="203998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8994" y="4996053"/>
            <a:ext cx="203998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8994" y="4996053"/>
            <a:ext cx="203998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91761" y="4996053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1761" y="4996053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1663" y="4996053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1663" y="4996053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91565" y="4996053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91565" y="4996053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1467" y="4996053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1467" y="4996053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S19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1369" y="4996053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1369" y="4996053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1271" y="4996053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1271" y="4996053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7680" y="5229225"/>
            <a:ext cx="3657600" cy="1258443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0380" y="5306034"/>
            <a:ext cx="38100" cy="1104823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176" y="5327980"/>
            <a:ext cx="640588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1308" y="5362270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14–25 sep</a:t>
            </a:r>
          </a:p>
        </p:txBody>
      </p:sp>
      <p:sp>
        <p:nvSpPr>
          <p:cNvPr id="30" name="Oval 29"/>
          <p:cNvSpPr/>
          <p:nvPr/>
        </p:nvSpPr>
        <p:spPr>
          <a:xfrm>
            <a:off x="646176" y="5622874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2188" y="5568010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Envío diario a los decisores de las empresas mejor calificadas</a:t>
            </a:r>
          </a:p>
        </p:txBody>
      </p:sp>
      <p:sp>
        <p:nvSpPr>
          <p:cNvPr id="32" name="Oval 31"/>
          <p:cNvSpPr/>
          <p:nvPr/>
        </p:nvSpPr>
        <p:spPr>
          <a:xfrm>
            <a:off x="646176" y="5808726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188" y="5753862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Correo personalizado con la vacante más relevante y el contexto de la empresa</a:t>
            </a:r>
          </a:p>
        </p:txBody>
      </p:sp>
      <p:sp>
        <p:nvSpPr>
          <p:cNvPr id="34" name="Oval 33"/>
          <p:cNvSpPr/>
          <p:nvPr/>
        </p:nvSpPr>
        <p:spPr>
          <a:xfrm>
            <a:off x="646176" y="6142710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2188" y="6087846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Dos plantillas alternadas por empresa para comparar su desempeño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67200" y="5229225"/>
            <a:ext cx="3657600" cy="1258443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79900" y="5306034"/>
            <a:ext cx="38100" cy="1104823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25696" y="5327980"/>
            <a:ext cx="672413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32653" y="5362270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28 sep–9 oct</a:t>
            </a:r>
          </a:p>
        </p:txBody>
      </p:sp>
      <p:sp>
        <p:nvSpPr>
          <p:cNvPr id="40" name="Oval 39"/>
          <p:cNvSpPr/>
          <p:nvPr/>
        </p:nvSpPr>
        <p:spPr>
          <a:xfrm>
            <a:off x="4425696" y="5622874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1708" y="5568010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Dos correos de recordatorio tras el primer contacto: a quien no abrió y a quien visitó la landing sin agendar</a:t>
            </a:r>
          </a:p>
        </p:txBody>
      </p:sp>
      <p:sp>
        <p:nvSpPr>
          <p:cNvPr id="42" name="Oval 41"/>
          <p:cNvSpPr/>
          <p:nvPr/>
        </p:nvSpPr>
        <p:spPr>
          <a:xfrm>
            <a:off x="4425696" y="5956858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1708" y="5901994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Medición de los recordatorios en el reporte semanal</a:t>
            </a:r>
          </a:p>
        </p:txBody>
      </p:sp>
      <p:sp>
        <p:nvSpPr>
          <p:cNvPr id="44" name="Oval 43"/>
          <p:cNvSpPr/>
          <p:nvPr/>
        </p:nvSpPr>
        <p:spPr>
          <a:xfrm>
            <a:off x="4425696" y="6142710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1708" y="6087846"/>
            <a:ext cx="238714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Copy ajustado a un mensaje único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82006" y="6099998"/>
            <a:ext cx="784297" cy="12382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B9C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82006" y="6099998"/>
            <a:ext cx="784297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1D4ED8"/>
                </a:solidFill>
                <a:latin typeface="Poppins"/>
              </a:rPr>
              <a:t>FIX DE CALIDAD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5229225"/>
            <a:ext cx="3657600" cy="1258443"/>
          </a:xfrm>
          <a:prstGeom prst="roundRect">
            <a:avLst>
              <a:gd name="adj" fmla="val 8719"/>
            </a:avLst>
          </a:prstGeom>
          <a:solidFill>
            <a:srgbClr val="F7F4FF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59420" y="5306034"/>
            <a:ext cx="38100" cy="1104823"/>
          </a:xfrm>
          <a:prstGeom prst="rect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05216" y="5327980"/>
            <a:ext cx="634544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74304" y="5362270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13–24 oct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106091" y="5334838"/>
            <a:ext cx="439732" cy="152247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F1ED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62669" y="5334838"/>
            <a:ext cx="383154" cy="152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594"/>
              </a:lnSpc>
              <a:spcBef>
                <a:spcPts val="0"/>
              </a:spcBef>
              <a:spcAft>
                <a:spcPts val="0"/>
              </a:spcAft>
            </a:pPr>
            <a:r>
              <a:rPr sz="594" b="1">
                <a:solidFill>
                  <a:srgbClr val="775AE5"/>
                </a:solidFill>
                <a:latin typeface="Poppins"/>
              </a:rPr>
              <a:t>En curso</a:t>
            </a:r>
          </a:p>
        </p:txBody>
      </p:sp>
      <p:sp>
        <p:nvSpPr>
          <p:cNvPr id="54" name="Oval 53"/>
          <p:cNvSpPr/>
          <p:nvPr/>
        </p:nvSpPr>
        <p:spPr>
          <a:xfrm>
            <a:off x="8205216" y="5622874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01228" y="5568010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Envío diario automático de los recordatorios</a:t>
            </a:r>
          </a:p>
        </p:txBody>
      </p:sp>
      <p:sp>
        <p:nvSpPr>
          <p:cNvPr id="56" name="Oval 55"/>
          <p:cNvSpPr/>
          <p:nvPr/>
        </p:nvSpPr>
        <p:spPr>
          <a:xfrm>
            <a:off x="8205216" y="5808726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01228" y="5753862"/>
            <a:ext cx="238714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Ajuste del copy de los recordatorios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761526" y="5766014"/>
            <a:ext cx="784297" cy="12382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B9C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61526" y="5766014"/>
            <a:ext cx="784297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1D4ED8"/>
                </a:solidFill>
                <a:latin typeface="Poppins"/>
              </a:rPr>
              <a:t>FIX DE CALIDAD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7680" y="940231"/>
            <a:ext cx="4602480" cy="1917496"/>
          </a:xfrm>
          <a:prstGeom prst="roundRect">
            <a:avLst>
              <a:gd name="adj" fmla="val 5722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6176" y="1049959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QUÉ HACE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6176" y="1226896"/>
            <a:ext cx="4285488" cy="5404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111827"/>
                </a:solidFill>
                <a:latin typeface="Open Sans"/>
              </a:rPr>
              <a:t>Envía correos en frío personalizados a los decisores de las empresas calificadas, a partir de sus vacantes publicadas, con una invitación a agendar una reunión.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6176" y="2603982"/>
            <a:ext cx="4285488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4B5563"/>
                </a:solidFill>
                <a:latin typeface="Poppins"/>
              </a:rPr>
              <a:t>Corre en  </a:t>
            </a:r>
            <a:r>
              <a:rPr sz="810" b="0">
                <a:solidFill>
                  <a:srgbClr val="9CA3AF"/>
                </a:solidFill>
                <a:latin typeface="Open Sans"/>
              </a:rPr>
              <a:t>n8n · VM dedicada (aloja también los flujos de la landing y de los reportes)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212080" y="940231"/>
            <a:ext cx="3657600" cy="1917496"/>
          </a:xfrm>
          <a:prstGeom prst="roundRect">
            <a:avLst>
              <a:gd name="adj" fmla="val 5722"/>
            </a:avLst>
          </a:prstGeom>
          <a:solidFill>
            <a:srgbClr val="5A4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70576" y="1049959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DAD5F2"/>
                </a:solidFill>
                <a:latin typeface="Poppins"/>
              </a:rPr>
              <a:t>VALOR PARA EL NEGOCIO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70576" y="1226896"/>
            <a:ext cx="3340608" cy="394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Poppins"/>
              </a:rPr>
              <a:t>Automatización del primer contacto comercial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70576" y="1682953"/>
            <a:ext cx="3340608" cy="669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928" b="0">
                <a:solidFill>
                  <a:srgbClr val="E4E0F6"/>
                </a:solidFill>
                <a:latin typeface="Open Sans"/>
              </a:rPr>
              <a:t>Sustituye la elaboración manual de listas y correos por un envío diario y personalizado a los decisores, orientado a convertir el interés del prospecto en una reunión agendada.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91600" y="940231"/>
            <a:ext cx="2712719" cy="1917496"/>
          </a:xfrm>
          <a:prstGeom prst="roundRect">
            <a:avLst>
              <a:gd name="adj" fmla="val 5722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50096" y="1049959"/>
            <a:ext cx="255422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ESTATUS ACTUAL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150096" y="1226896"/>
            <a:ext cx="788149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16961" y="1226896"/>
            <a:ext cx="721283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166534"/>
                </a:solidFill>
                <a:latin typeface="Poppins"/>
              </a:rPr>
              <a:t>En producción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987013" y="1226896"/>
            <a:ext cx="1257182" cy="168706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3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053878" y="1226896"/>
            <a:ext cx="1190317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B91C1C"/>
                </a:solidFill>
                <a:latin typeface="Poppins"/>
              </a:rPr>
              <a:t>! Sin conversión medible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50096" y="1471041"/>
            <a:ext cx="2395727" cy="9640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891" b="0">
                <a:solidFill>
                  <a:srgbClr val="4B5563"/>
                </a:solidFill>
                <a:latin typeface="Open Sans"/>
              </a:rPr>
              <a:t>Los antispam generan clics no humanos y parte de los correos quedaría en cuarentena. Pendiente: cambio de remitente para mejorar la entregabilidad, condición para evaluar el copy, el A/B de plantillas y la hora de envío.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87680" y="2946882"/>
            <a:ext cx="4602480" cy="1953158"/>
          </a:xfrm>
          <a:prstGeom prst="roundRect">
            <a:avLst>
              <a:gd name="adj" fmla="val 5617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176" y="3056610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CONEXIONES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6176" y="3240405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General US Openings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00777" y="3240405"/>
            <a:ext cx="2730886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provee las vacantes viables de cada empresa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6176" y="3472685"/>
            <a:ext cx="1457065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Company Decision Maker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00777" y="3472685"/>
            <a:ext cx="2730886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provee los decisores y la investigación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6176" y="3854950"/>
            <a:ext cx="1457065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Landing de Agendamiento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00777" y="3854950"/>
            <a:ext cx="2730886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destino del enlace incluido en cada correo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6176" y="4237215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Reporte de Funnel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00777" y="4237215"/>
            <a:ext cx="2730886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mide entregas, aperturas y clics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212080" y="2946882"/>
            <a:ext cx="2712719" cy="1953158"/>
          </a:xfrm>
          <a:prstGeom prst="roundRect">
            <a:avLst>
              <a:gd name="adj" fmla="val 5617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70576" y="3056610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APIS EXTERNAS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370576" y="3240405"/>
            <a:ext cx="539717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70576" y="3240405"/>
            <a:ext cx="539717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OpenAI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95637" y="3277266"/>
            <a:ext cx="1770666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copy del correo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370576" y="3511981"/>
            <a:ext cx="452436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70576" y="3511981"/>
            <a:ext cx="452436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Brevo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08356" y="3548843"/>
            <a:ext cx="1857947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envío y eventos de engagement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046720" y="2946882"/>
            <a:ext cx="3657600" cy="1953158"/>
          </a:xfrm>
          <a:prstGeom prst="roundRect">
            <a:avLst>
              <a:gd name="adj" fmla="val 5617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05216" y="3056610"/>
            <a:ext cx="349910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ÉPICAS</a:t>
            </a:r>
          </a:p>
        </p:txBody>
      </p:sp>
      <p:sp>
        <p:nvSpPr>
          <p:cNvPr id="95" name="TextBox 94">
            <a:hlinkClick r:id="rId2"/>
          </p:cNvPr>
          <p:cNvSpPr txBox="1"/>
          <p:nvPr/>
        </p:nvSpPr>
        <p:spPr>
          <a:xfrm>
            <a:off x="8205216" y="3240405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Email Cold Calling — MVP (cold email diario con copy por IA)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33760" y="3240405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#77515</a:t>
            </a:r>
          </a:p>
        </p:txBody>
      </p:sp>
      <p:sp>
        <p:nvSpPr>
          <p:cNvPr id="97" name="TextBox 96">
            <a:hlinkClick r:id="rId3"/>
          </p:cNvPr>
          <p:cNvSpPr txBox="1"/>
          <p:nvPr/>
        </p:nvSpPr>
        <p:spPr>
          <a:xfrm>
            <a:off x="8205216" y="3550386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Email Cold Calling — Ajustes Críticos CR (ciclo diario y template HTML)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033760" y="3550386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#85100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05216" y="3860368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Email Cold Calling — Coherencia de Copy CR (propuesta de valor fija en el template)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033760" y="3860368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sin Epic</a:t>
            </a:r>
          </a:p>
        </p:txBody>
      </p:sp>
      <p:sp>
        <p:nvSpPr>
          <p:cNvPr id="101" name="TextBox 100">
            <a:hlinkClick r:id="rId4"/>
          </p:cNvPr>
          <p:cNvSpPr txBox="1"/>
          <p:nvPr/>
        </p:nvSpPr>
        <p:spPr>
          <a:xfrm>
            <a:off x="8205216" y="4170349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Ajustes Prospect Engine (envío a decisores con dos plantillas alternadas)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033760" y="4170349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#95102</a:t>
            </a:r>
          </a:p>
        </p:txBody>
      </p:sp>
      <p:sp>
        <p:nvSpPr>
          <p:cNvPr id="103" name="TextBox 102">
            <a:hlinkClick r:id="rId5"/>
          </p:cNvPr>
          <p:cNvSpPr txBox="1"/>
          <p:nvPr/>
        </p:nvSpPr>
        <p:spPr>
          <a:xfrm>
            <a:off x="8205216" y="4480331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Optimización de Cold Outreach (recordatorio a quien no abrió o no agendó)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033760" y="4480331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#96065</a:t>
            </a:r>
          </a:p>
        </p:txBody>
      </p:sp>
      <p:pic>
        <p:nvPicPr>
          <p:cNvPr id="105" name="Picture 104" descr="SolvoGenAI_Icon_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" y="6580593"/>
            <a:ext cx="150876" cy="150876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736092" y="6591223"/>
            <a:ext cx="11065764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29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MAPA DE COMPONENTES · 03/12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41665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9256" y="288036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SOLVO SALES PLATFORM · PROSPECT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506120"/>
            <a:ext cx="11216640" cy="331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11827"/>
                </a:solidFill>
                <a:latin typeface="Poppins"/>
              </a:rPr>
              <a:t>Landing de Agendamiento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59239" y="579843"/>
            <a:ext cx="929033" cy="183794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59239" y="579843"/>
            <a:ext cx="929033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4B5563"/>
                </a:solidFill>
                <a:latin typeface="Consolas"/>
              </a:rPr>
              <a:t>App web pública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5013883"/>
            <a:ext cx="11216640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SPRINTS TRABAJADOS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3461" y="4996053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33461" y="4996053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3363" y="4996053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3363" y="4996053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3265" y="4996053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3265" y="4996053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3167" y="4996053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3167" y="4996053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33069" y="4996053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3069" y="4996053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2971" y="4996053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2971" y="4996053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2873" y="4996053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2873" y="4996053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S17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2775" y="4996053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2775" y="4996053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2677" y="4996053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2677" y="4996053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7680" y="5229225"/>
            <a:ext cx="3657600" cy="1258443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0380" y="5306034"/>
            <a:ext cx="38100" cy="1104823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176" y="5327980"/>
            <a:ext cx="629615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0335" y="5362270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17–28 ago</a:t>
            </a:r>
          </a:p>
        </p:txBody>
      </p:sp>
      <p:sp>
        <p:nvSpPr>
          <p:cNvPr id="30" name="Oval 29"/>
          <p:cNvSpPr/>
          <p:nvPr/>
        </p:nvSpPr>
        <p:spPr>
          <a:xfrm>
            <a:off x="646176" y="5622874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2188" y="5568010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Medición de la interacción del prospecto con el showcase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67200" y="5229225"/>
            <a:ext cx="3657600" cy="1258443"/>
          </a:xfrm>
          <a:prstGeom prst="roundRect">
            <a:avLst>
              <a:gd name="adj" fmla="val 871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79900" y="5306034"/>
            <a:ext cx="38100" cy="1104823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25696" y="5327980"/>
            <a:ext cx="672413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2653" y="5362270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28 sep–9 oct</a:t>
            </a:r>
          </a:p>
        </p:txBody>
      </p:sp>
      <p:sp>
        <p:nvSpPr>
          <p:cNvPr id="36" name="Oval 35"/>
          <p:cNvSpPr/>
          <p:nvPr/>
        </p:nvSpPr>
        <p:spPr>
          <a:xfrm>
            <a:off x="4425696" y="5622874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1708" y="5568010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Medición del showcase integrada al registro y al reporte del funnel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5229225"/>
            <a:ext cx="3657600" cy="1258443"/>
          </a:xfrm>
          <a:prstGeom prst="roundRect">
            <a:avLst>
              <a:gd name="adj" fmla="val 8719"/>
            </a:avLst>
          </a:prstGeom>
          <a:solidFill>
            <a:srgbClr val="F7F4FF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59420" y="5306034"/>
            <a:ext cx="38100" cy="1104823"/>
          </a:xfrm>
          <a:prstGeom prst="rect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5216" y="5327980"/>
            <a:ext cx="634544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74304" y="5362270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13–24 oct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106091" y="5334838"/>
            <a:ext cx="439732" cy="152247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F1ED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62669" y="5334838"/>
            <a:ext cx="383154" cy="152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594"/>
              </a:lnSpc>
              <a:spcBef>
                <a:spcPts val="0"/>
              </a:spcBef>
              <a:spcAft>
                <a:spcPts val="0"/>
              </a:spcAft>
            </a:pPr>
            <a:r>
              <a:rPr sz="594" b="1">
                <a:solidFill>
                  <a:srgbClr val="775AE5"/>
                </a:solidFill>
                <a:latin typeface="Poppins"/>
              </a:rPr>
              <a:t>En curso</a:t>
            </a:r>
          </a:p>
        </p:txBody>
      </p:sp>
      <p:sp>
        <p:nvSpPr>
          <p:cNvPr id="44" name="Oval 43"/>
          <p:cNvSpPr/>
          <p:nvPr/>
        </p:nvSpPr>
        <p:spPr>
          <a:xfrm>
            <a:off x="8205216" y="5622874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1228" y="5568010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Showcase con el currículo afín a la vacante del prospecto, desde el correo hasta la landing</a:t>
            </a:r>
          </a:p>
        </p:txBody>
      </p:sp>
      <p:sp>
        <p:nvSpPr>
          <p:cNvPr id="46" name="Oval 45"/>
          <p:cNvSpPr/>
          <p:nvPr/>
        </p:nvSpPr>
        <p:spPr>
          <a:xfrm>
            <a:off x="8205216" y="5956858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01228" y="5901994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Reporte semanal con la versión de Release 2</a:t>
            </a:r>
          </a:p>
        </p:txBody>
      </p:sp>
      <p:sp>
        <p:nvSpPr>
          <p:cNvPr id="48" name="Oval 47"/>
          <p:cNvSpPr/>
          <p:nvPr/>
        </p:nvSpPr>
        <p:spPr>
          <a:xfrm>
            <a:off x="8205216" y="6142710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01228" y="6087846"/>
            <a:ext cx="238714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Registro de la visita solo cuando el prospecto interactúa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761526" y="6099998"/>
            <a:ext cx="784297" cy="12382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B9C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761526" y="6099998"/>
            <a:ext cx="784297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1D4ED8"/>
                </a:solidFill>
                <a:latin typeface="Poppins"/>
              </a:rPr>
              <a:t>FIX DE CALIDAD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7680" y="940231"/>
            <a:ext cx="4602480" cy="1935327"/>
          </a:xfrm>
          <a:prstGeom prst="roundRect">
            <a:avLst>
              <a:gd name="adj" fmla="val 566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6176" y="1049959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QUÉ HACE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6176" y="1226896"/>
            <a:ext cx="4285488" cy="720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111827"/>
                </a:solidFill>
                <a:latin typeface="Open Sans"/>
              </a:rPr>
              <a:t>Página pública de destino del correo en frío, en la que el prospecto consulta la disponibilidad del equipo de Solvo y agenda una reunión. Release 2 incorpora un showcase de perfiles de talento afines a sus vacantes.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6176" y="2621813"/>
            <a:ext cx="4285488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4B5563"/>
                </a:solidFill>
                <a:latin typeface="Poppins"/>
              </a:rPr>
              <a:t>Corre en  </a:t>
            </a:r>
            <a:r>
              <a:rPr sz="810" b="0">
                <a:solidFill>
                  <a:srgbClr val="9CA3AF"/>
                </a:solidFill>
                <a:latin typeface="Open Sans"/>
              </a:rPr>
              <a:t>Container App + Static Web App · Front Door + WAF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212080" y="940231"/>
            <a:ext cx="3657600" cy="1935327"/>
          </a:xfrm>
          <a:prstGeom prst="roundRect">
            <a:avLst>
              <a:gd name="adj" fmla="val 5669"/>
            </a:avLst>
          </a:prstGeom>
          <a:solidFill>
            <a:srgbClr val="5A4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70576" y="1049959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DAD5F2"/>
                </a:solidFill>
                <a:latin typeface="Poppins"/>
              </a:rPr>
              <a:t>VALOR PARA EL NEGOCIO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70576" y="1226896"/>
            <a:ext cx="3340608" cy="394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Poppins"/>
              </a:rPr>
              <a:t>Conversión del interés en reuniones agendadas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70576" y="1682953"/>
            <a:ext cx="3340608" cy="502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928" b="0">
                <a:solidFill>
                  <a:srgbClr val="E4E0F6"/>
                </a:solidFill>
                <a:latin typeface="Open Sans"/>
              </a:rPr>
              <a:t>El prospecto agenda directamente con Solvo desde el correo, sin intercambios previos. El showcase le presenta el tipo de talento disponible antes de la reunión.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91600" y="940231"/>
            <a:ext cx="2712719" cy="1935327"/>
          </a:xfrm>
          <a:prstGeom prst="roundRect">
            <a:avLst>
              <a:gd name="adj" fmla="val 566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50096" y="1049959"/>
            <a:ext cx="255422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ESTATUS ACTUAL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150096" y="1226896"/>
            <a:ext cx="556885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16961" y="1226896"/>
            <a:ext cx="490019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631" b="1">
                <a:solidFill>
                  <a:srgbClr val="166534"/>
                </a:solidFill>
                <a:latin typeface="Consolas"/>
              </a:rPr>
              <a:t>PROD </a:t>
            </a:r>
            <a:r>
              <a:rPr sz="702" b="1">
                <a:solidFill>
                  <a:srgbClr val="166534"/>
                </a:solidFill>
                <a:latin typeface="Poppins"/>
              </a:rPr>
              <a:t>MVP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755749" y="1226896"/>
            <a:ext cx="695349" cy="16870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6C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22614" y="1226896"/>
            <a:ext cx="628484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631" b="1">
                <a:solidFill>
                  <a:srgbClr val="92400E"/>
                </a:solidFill>
                <a:latin typeface="Consolas"/>
              </a:rPr>
              <a:t>QA </a:t>
            </a:r>
            <a:r>
              <a:rPr sz="702" b="1">
                <a:solidFill>
                  <a:srgbClr val="92400E"/>
                </a:solidFill>
                <a:latin typeface="Poppins"/>
              </a:rPr>
              <a:t>Release 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50096" y="1471041"/>
            <a:ext cx="2395727" cy="482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891" b="0">
                <a:solidFill>
                  <a:srgbClr val="4B5563"/>
                </a:solidFill>
                <a:latin typeface="Open Sans"/>
              </a:rPr>
              <a:t>MVP en producción desde el 18 de agosto. Release 2 (showcase) en QA, con ajustes solicitados por marketing.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87680" y="2964713"/>
            <a:ext cx="4602480" cy="1935327"/>
          </a:xfrm>
          <a:prstGeom prst="roundRect">
            <a:avLst>
              <a:gd name="adj" fmla="val 566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6176" y="3074441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CONEXIONES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6176" y="3258235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Email Cold Outreach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00777" y="3258235"/>
            <a:ext cx="2730886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origen de las visitas; envía el correo de confirmación de la reserva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6176" y="3640500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Reporte de Funnel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00777" y="3640500"/>
            <a:ext cx="2730886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registra la visita y la reserva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6176" y="3872781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Talent Pool Scraping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00777" y="3872781"/>
            <a:ext cx="2730886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provee los currículos del showcase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212080" y="2964713"/>
            <a:ext cx="2712719" cy="1935327"/>
          </a:xfrm>
          <a:prstGeom prst="roundRect">
            <a:avLst>
              <a:gd name="adj" fmla="val 566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70576" y="3074441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APIS EXTERNAS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370576" y="3258235"/>
            <a:ext cx="1017116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70576" y="3258235"/>
            <a:ext cx="1017116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Microsoft Graph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73036" y="3258235"/>
            <a:ext cx="1293267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disponibilidad y reserva en el calendario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70576" y="3585362"/>
            <a:ext cx="452436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70576" y="3585362"/>
            <a:ext cx="452436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Brevo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08356" y="3622224"/>
            <a:ext cx="1857947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confirmación post-reserva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046720" y="2964713"/>
            <a:ext cx="3657600" cy="1935327"/>
          </a:xfrm>
          <a:prstGeom prst="roundRect">
            <a:avLst>
              <a:gd name="adj" fmla="val 566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05216" y="3074441"/>
            <a:ext cx="349910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ÉPICAS</a:t>
            </a:r>
          </a:p>
        </p:txBody>
      </p:sp>
      <p:sp>
        <p:nvSpPr>
          <p:cNvPr id="85" name="TextBox 84">
            <a:hlinkClick r:id="rId2"/>
          </p:cNvPr>
          <p:cNvSpPr txBox="1"/>
          <p:nvPr/>
        </p:nvSpPr>
        <p:spPr>
          <a:xfrm>
            <a:off x="8205216" y="3258235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Landing de Agendamiento — PoC (primera landing de reserva)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33760" y="3258235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#88916</a:t>
            </a:r>
          </a:p>
        </p:txBody>
      </p:sp>
      <p:sp>
        <p:nvSpPr>
          <p:cNvPr id="87" name="TextBox 86">
            <a:hlinkClick r:id="rId3"/>
          </p:cNvPr>
          <p:cNvSpPr txBox="1"/>
          <p:nvPr/>
        </p:nvSpPr>
        <p:spPr>
          <a:xfrm>
            <a:off x="8205216" y="3568217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Landing de Agendamiento — MVP (reserva en producción con confirmación por correo)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33760" y="3568217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#90079</a:t>
            </a:r>
          </a:p>
        </p:txBody>
      </p:sp>
      <p:sp>
        <p:nvSpPr>
          <p:cNvPr id="89" name="TextBox 88">
            <a:hlinkClick r:id="rId4"/>
          </p:cNvPr>
          <p:cNvSpPr txBox="1"/>
          <p:nvPr/>
        </p:nvSpPr>
        <p:spPr>
          <a:xfrm>
            <a:off x="8205216" y="3878199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Landing de Agendamiento — Release 2 (showcase de talento)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033760" y="3878199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#92486</a:t>
            </a:r>
          </a:p>
        </p:txBody>
      </p:sp>
      <p:pic>
        <p:nvPicPr>
          <p:cNvPr id="91" name="Picture 90" descr="SolvoGenAI_Icon_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" y="6580593"/>
            <a:ext cx="150876" cy="150876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36092" y="6591223"/>
            <a:ext cx="11065764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29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MAPA DE COMPONENTES · 04/12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41665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9256" y="288036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SOLVO SALES PLATFORM · PROSPECT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506120"/>
            <a:ext cx="11216640" cy="331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11827"/>
                </a:solidFill>
                <a:latin typeface="Poppins"/>
              </a:rPr>
              <a:t>On-Demand Openings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88838" y="579843"/>
            <a:ext cx="770659" cy="183794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88838" y="579843"/>
            <a:ext cx="770659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4B5563"/>
                </a:solidFill>
                <a:latin typeface="Consolas"/>
              </a:rPr>
              <a:t>Pipeline n8n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5533720"/>
            <a:ext cx="11216640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SPRINTS TRABAJADOS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3461" y="5515889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33461" y="5515889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3363" y="5515889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3363" y="5515889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3265" y="5515889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3265" y="5515889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3167" y="5515889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3167" y="5515889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7680" y="5749061"/>
            <a:ext cx="3657600" cy="738606"/>
          </a:xfrm>
          <a:prstGeom prst="roundRect">
            <a:avLst>
              <a:gd name="adj" fmla="val 1485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0380" y="5825870"/>
            <a:ext cx="38100" cy="584987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76" y="5847816"/>
            <a:ext cx="645388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6108" y="5882106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21–31 jul</a:t>
            </a:r>
          </a:p>
        </p:txBody>
      </p:sp>
      <p:sp>
        <p:nvSpPr>
          <p:cNvPr id="20" name="Oval 19"/>
          <p:cNvSpPr/>
          <p:nvPr/>
        </p:nvSpPr>
        <p:spPr>
          <a:xfrm>
            <a:off x="646176" y="6142710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188" y="6087846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Solicitud de búsqueda on-demand desde Solvo Platform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7200" y="5749061"/>
            <a:ext cx="3657600" cy="738606"/>
          </a:xfrm>
          <a:prstGeom prst="roundRect">
            <a:avLst>
              <a:gd name="adj" fmla="val 1485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900" y="5825870"/>
            <a:ext cx="38100" cy="584987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5696" y="5847816"/>
            <a:ext cx="64510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5349" y="5882106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31 ago–11 sep</a:t>
            </a:r>
          </a:p>
        </p:txBody>
      </p:sp>
      <p:sp>
        <p:nvSpPr>
          <p:cNvPr id="26" name="Oval 25"/>
          <p:cNvSpPr/>
          <p:nvPr/>
        </p:nvSpPr>
        <p:spPr>
          <a:xfrm>
            <a:off x="4425696" y="6142710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1708" y="6087846"/>
            <a:ext cx="238714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Preview de vacantes de LinkedIn más rápido y solo con vacantes vigentes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82006" y="6099998"/>
            <a:ext cx="784297" cy="12382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B9C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2006" y="6099998"/>
            <a:ext cx="784297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1D4ED8"/>
                </a:solidFill>
                <a:latin typeface="Poppins"/>
              </a:rPr>
              <a:t>FIX DE CALIDAD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5749061"/>
            <a:ext cx="3657600" cy="738606"/>
          </a:xfrm>
          <a:prstGeom prst="roundRect">
            <a:avLst>
              <a:gd name="adj" fmla="val 1485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9420" y="5825870"/>
            <a:ext cx="38100" cy="584987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5216" y="5847816"/>
            <a:ext cx="640588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0348" y="5882106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14–25 sep</a:t>
            </a:r>
          </a:p>
        </p:txBody>
      </p:sp>
      <p:sp>
        <p:nvSpPr>
          <p:cNvPr id="34" name="Oval 33"/>
          <p:cNvSpPr/>
          <p:nvPr/>
        </p:nvSpPr>
        <p:spPr>
          <a:xfrm>
            <a:off x="8205216" y="6142710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1228" y="6087846"/>
            <a:ext cx="238714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Aviso al usuario cuando la búsqueda falla, con opción de reintento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61526" y="6099998"/>
            <a:ext cx="784297" cy="12382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B9C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61526" y="6099998"/>
            <a:ext cx="784297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1D4ED8"/>
                </a:solidFill>
                <a:latin typeface="Poppins"/>
              </a:rPr>
              <a:t>FIX DE CALIDAD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7680" y="940231"/>
            <a:ext cx="4602480" cy="2195245"/>
          </a:xfrm>
          <a:prstGeom prst="roundRect">
            <a:avLst>
              <a:gd name="adj" fmla="val 499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176" y="1049959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QUÉ HACE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176" y="1226896"/>
            <a:ext cx="4285488" cy="5404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111827"/>
                </a:solidFill>
                <a:latin typeface="Open Sans"/>
              </a:rPr>
              <a:t>Obtiene a demanda las vacantes vigentes de una empresa específica, solicitadas desde Solvo Platform, con revisión del usuario antes de registrarlas.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176" y="2881731"/>
            <a:ext cx="4285488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4B5563"/>
                </a:solidFill>
                <a:latin typeface="Poppins"/>
              </a:rPr>
              <a:t>Corre en  </a:t>
            </a:r>
            <a:r>
              <a:rPr sz="810" b="0">
                <a:solidFill>
                  <a:srgbClr val="9CA3AF"/>
                </a:solidFill>
                <a:latin typeface="Open Sans"/>
              </a:rPr>
              <a:t>n8n · VM de Current Client US Openings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940231"/>
            <a:ext cx="3657600" cy="2195245"/>
          </a:xfrm>
          <a:prstGeom prst="roundRect">
            <a:avLst>
              <a:gd name="adj" fmla="val 4998"/>
            </a:avLst>
          </a:prstGeom>
          <a:solidFill>
            <a:srgbClr val="5A4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0576" y="1049959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DAD5F2"/>
                </a:solidFill>
                <a:latin typeface="Poppins"/>
              </a:rPr>
              <a:t>VALOR PARA EL NEGOCIO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0576" y="1226896"/>
            <a:ext cx="3340608" cy="394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Poppins"/>
              </a:rPr>
              <a:t>Atención inmediata de oportunidades puntuales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70576" y="1682953"/>
            <a:ext cx="3340608" cy="502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928" b="0">
                <a:solidFill>
                  <a:srgbClr val="E4E0F6"/>
                </a:solidFill>
                <a:latin typeface="Open Sans"/>
              </a:rPr>
              <a:t>Permite al equipo comercial obtener las vacantes vigentes de una cuenta en el momento en que se requieren, sin depender de la programación de los barridos.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91600" y="940231"/>
            <a:ext cx="2712719" cy="2195245"/>
          </a:xfrm>
          <a:prstGeom prst="roundRect">
            <a:avLst>
              <a:gd name="adj" fmla="val 499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50096" y="1049959"/>
            <a:ext cx="255422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ESTATUS ACTUAL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50096" y="1226896"/>
            <a:ext cx="788149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6961" y="1226896"/>
            <a:ext cx="721283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166534"/>
                </a:solidFill>
                <a:latin typeface="Poppins"/>
              </a:rPr>
              <a:t>En producción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87013" y="1226896"/>
            <a:ext cx="514348" cy="168706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3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3878" y="1226896"/>
            <a:ext cx="447483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B91C1C"/>
                </a:solidFill>
                <a:latin typeface="Poppins"/>
              </a:rPr>
              <a:t>! Sin uso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50096" y="1471041"/>
            <a:ext cx="2395727" cy="482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891" b="0">
                <a:solidFill>
                  <a:srgbClr val="4B5563"/>
                </a:solidFill>
                <a:latin typeface="Open Sans"/>
              </a:rPr>
              <a:t>En producción desde el sprint 17. Sin uso registrado a la fecha; su costo depende del volumen de búsquedas.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7680" y="3224631"/>
            <a:ext cx="4602480" cy="2195245"/>
          </a:xfrm>
          <a:prstGeom prst="roundRect">
            <a:avLst>
              <a:gd name="adj" fmla="val 499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6176" y="3334359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CONEXIONES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6176" y="3518154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Solvo Platform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00777" y="3518154"/>
            <a:ext cx="2730886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solicita la búsqueda por webhook y recibe el resultado por callback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6176" y="3900418"/>
            <a:ext cx="1457065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Reporte de Métricas de Sistema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00777" y="3900418"/>
            <a:ext cx="2730886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registra sus vacantes como un origen independiente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212080" y="3224631"/>
            <a:ext cx="2712719" cy="2195245"/>
          </a:xfrm>
          <a:prstGeom prst="roundRect">
            <a:avLst>
              <a:gd name="adj" fmla="val 499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70576" y="3334359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APIS EXTERNAS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70576" y="3518154"/>
            <a:ext cx="585426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70576" y="3518154"/>
            <a:ext cx="585426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Oxylabs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41346" y="3555015"/>
            <a:ext cx="1724957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preview de LinkedIn e Indeed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70576" y="3789730"/>
            <a:ext cx="424499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70576" y="3789730"/>
            <a:ext cx="424499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Apify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80419" y="3826592"/>
            <a:ext cx="188588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detalle de las vacantes de LinkedIn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370576" y="4061307"/>
            <a:ext cx="539717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70576" y="4061307"/>
            <a:ext cx="539717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OpenAI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95637" y="4098169"/>
            <a:ext cx="1770666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modalidad de trabajo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46720" y="3224631"/>
            <a:ext cx="3657600" cy="2195245"/>
          </a:xfrm>
          <a:prstGeom prst="roundRect">
            <a:avLst>
              <a:gd name="adj" fmla="val 499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05216" y="3334359"/>
            <a:ext cx="349910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ÉPICAS</a:t>
            </a:r>
          </a:p>
        </p:txBody>
      </p:sp>
      <p:sp>
        <p:nvSpPr>
          <p:cNvPr id="72" name="TextBox 71">
            <a:hlinkClick r:id="rId2"/>
          </p:cNvPr>
          <p:cNvSpPr txBox="1"/>
          <p:nvPr/>
        </p:nvSpPr>
        <p:spPr>
          <a:xfrm>
            <a:off x="8205216" y="3518154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On-Demand Openings — MVP (vacantes de una empresa a pedido)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33760" y="3518154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#90924</a:t>
            </a:r>
          </a:p>
        </p:txBody>
      </p:sp>
      <p:sp>
        <p:nvSpPr>
          <p:cNvPr id="74" name="TextBox 73">
            <a:hlinkClick r:id="rId3"/>
          </p:cNvPr>
          <p:cNvSpPr txBox="1"/>
          <p:nvPr/>
        </p:nvSpPr>
        <p:spPr>
          <a:xfrm>
            <a:off x="8205216" y="3828135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Solvo Sales Platform — Mantenimiento y Ajustes (preview de LinkedIn más rápido)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33760" y="3828135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#93094</a:t>
            </a:r>
          </a:p>
        </p:txBody>
      </p:sp>
      <p:pic>
        <p:nvPicPr>
          <p:cNvPr id="76" name="Picture 75" descr="SolvoGenAI_Icon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6580593"/>
            <a:ext cx="150876" cy="150876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36092" y="6591223"/>
            <a:ext cx="11065764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29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MAPA DE COMPONENTES · 05/12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41665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9256" y="288036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SOLVO SALES PLATFORM · REPORTE Y MÉTRICAS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506120"/>
            <a:ext cx="11216640" cy="331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11827"/>
                </a:solidFill>
                <a:latin typeface="Poppins"/>
              </a:rPr>
              <a:t>Reporte de Funnel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3456" y="579843"/>
            <a:ext cx="770659" cy="183794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3456" y="579843"/>
            <a:ext cx="770659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4B5563"/>
                </a:solidFill>
                <a:latin typeface="Consolas"/>
              </a:rPr>
              <a:t>Pipeline n8n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5199735"/>
            <a:ext cx="11216640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SPRINTS TRABAJADOS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3461" y="518190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33461" y="518190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3363" y="518190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3363" y="518190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3265" y="518190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3265" y="518190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3167" y="518190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3167" y="518190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7680" y="5415076"/>
            <a:ext cx="3657600" cy="1072591"/>
          </a:xfrm>
          <a:prstGeom prst="roundRect">
            <a:avLst>
              <a:gd name="adj" fmla="val 102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0380" y="5491886"/>
            <a:ext cx="38100" cy="918972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76" y="5513832"/>
            <a:ext cx="64510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29" y="5548121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31 ago–11 sep</a:t>
            </a:r>
          </a:p>
        </p:txBody>
      </p:sp>
      <p:sp>
        <p:nvSpPr>
          <p:cNvPr id="20" name="Oval 19"/>
          <p:cNvSpPr/>
          <p:nvPr/>
        </p:nvSpPr>
        <p:spPr>
          <a:xfrm>
            <a:off x="646176" y="5808725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188" y="5753861"/>
            <a:ext cx="238714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Atribución de cada evento de correo al prospecto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2486" y="5766014"/>
            <a:ext cx="784297" cy="12382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B9C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2486" y="5766014"/>
            <a:ext cx="784297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1D4ED8"/>
                </a:solidFill>
                <a:latin typeface="Poppins"/>
              </a:rPr>
              <a:t>FIX DE CALIDAD</a:t>
            </a:r>
          </a:p>
        </p:txBody>
      </p:sp>
      <p:sp>
        <p:nvSpPr>
          <p:cNvPr id="24" name="Oval 23"/>
          <p:cNvSpPr/>
          <p:nvPr/>
        </p:nvSpPr>
        <p:spPr>
          <a:xfrm>
            <a:off x="646176" y="6142710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188" y="6087846"/>
            <a:ext cx="238714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Embudo limitado a los eventos del correo en frío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2486" y="6099998"/>
            <a:ext cx="784297" cy="12382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B9C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2486" y="6099998"/>
            <a:ext cx="784297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1D4ED8"/>
                </a:solidFill>
                <a:latin typeface="Poppins"/>
              </a:rPr>
              <a:t>FIX DE CALIDAD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7200" y="5415076"/>
            <a:ext cx="3657600" cy="1072591"/>
          </a:xfrm>
          <a:prstGeom prst="roundRect">
            <a:avLst>
              <a:gd name="adj" fmla="val 102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9900" y="5491886"/>
            <a:ext cx="38100" cy="918972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5513832"/>
            <a:ext cx="640588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0828" y="5548121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14–25 sep</a:t>
            </a:r>
          </a:p>
        </p:txBody>
      </p:sp>
      <p:sp>
        <p:nvSpPr>
          <p:cNvPr id="32" name="Oval 31"/>
          <p:cNvSpPr/>
          <p:nvPr/>
        </p:nvSpPr>
        <p:spPr>
          <a:xfrm>
            <a:off x="4425696" y="5808725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1708" y="5753861"/>
            <a:ext cx="238714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Métricas calculadas solo sobre interacción humana, con el tráfico antispam separado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82006" y="5766014"/>
            <a:ext cx="784297" cy="12382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B9C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2006" y="5766014"/>
            <a:ext cx="784297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1D4ED8"/>
                </a:solidFill>
                <a:latin typeface="Poppins"/>
              </a:rPr>
              <a:t>FIX DE CALIDAD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5415076"/>
            <a:ext cx="3657600" cy="1072591"/>
          </a:xfrm>
          <a:prstGeom prst="roundRect">
            <a:avLst>
              <a:gd name="adj" fmla="val 102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59420" y="5491886"/>
            <a:ext cx="38100" cy="918972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5216" y="5513832"/>
            <a:ext cx="672413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2173" y="5548121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28 sep–9 oct</a:t>
            </a:r>
          </a:p>
        </p:txBody>
      </p:sp>
      <p:sp>
        <p:nvSpPr>
          <p:cNvPr id="40" name="Oval 39"/>
          <p:cNvSpPr/>
          <p:nvPr/>
        </p:nvSpPr>
        <p:spPr>
          <a:xfrm>
            <a:off x="8205216" y="5808725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1228" y="5753861"/>
            <a:ext cx="238714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Reporte semanal con las métricas y los adjuntos de cada semana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61526" y="5766014"/>
            <a:ext cx="784297" cy="12382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B9C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61526" y="5766014"/>
            <a:ext cx="784297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1D4ED8"/>
                </a:solidFill>
                <a:latin typeface="Poppins"/>
              </a:rPr>
              <a:t>FIX DE CALIDAD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7680" y="940231"/>
            <a:ext cx="4602480" cy="2028253"/>
          </a:xfrm>
          <a:prstGeom prst="roundRect">
            <a:avLst>
              <a:gd name="adj" fmla="val 540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176" y="1049959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QUÉ HACE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176" y="1226896"/>
            <a:ext cx="4285488" cy="360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111827"/>
                </a:solidFill>
                <a:latin typeface="Open Sans"/>
              </a:rPr>
              <a:t>Mide la conversión del correo en frío por etapa, desde la entrega del correo hasta la reunión agendada, y emite un reporte semanal.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6176" y="2714739"/>
            <a:ext cx="4285488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4B5563"/>
                </a:solidFill>
                <a:latin typeface="Poppins"/>
              </a:rPr>
              <a:t>Corre en  </a:t>
            </a:r>
            <a:r>
              <a:rPr sz="810" b="0">
                <a:solidFill>
                  <a:srgbClr val="9CA3AF"/>
                </a:solidFill>
                <a:latin typeface="Open Sans"/>
              </a:rPr>
              <a:t>n8n · VM de Email Cold Outreach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12080" y="940231"/>
            <a:ext cx="3657600" cy="2028253"/>
          </a:xfrm>
          <a:prstGeom prst="roundRect">
            <a:avLst>
              <a:gd name="adj" fmla="val 5409"/>
            </a:avLst>
          </a:prstGeom>
          <a:solidFill>
            <a:srgbClr val="5A4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70576" y="1049959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DAD5F2"/>
                </a:solidFill>
                <a:latin typeface="Poppins"/>
              </a:rPr>
              <a:t>VALOR PARA EL NEGOCIO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70576" y="1226896"/>
            <a:ext cx="3340608" cy="394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Poppins"/>
              </a:rPr>
              <a:t>Decisiones de optimización basadas en datos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70576" y="1682953"/>
            <a:ext cx="3340608" cy="502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928" b="0">
                <a:solidFill>
                  <a:srgbClr val="E4E0F6"/>
                </a:solidFill>
                <a:latin typeface="Open Sans"/>
              </a:rPr>
              <a:t>Identifica la etapa en la que se pierde la conversión del correo en frío, considerando únicamente interacciones humanas, para orientar los ajustes del canal.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91600" y="940231"/>
            <a:ext cx="2712719" cy="2028253"/>
          </a:xfrm>
          <a:prstGeom prst="roundRect">
            <a:avLst>
              <a:gd name="adj" fmla="val 540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50096" y="1049959"/>
            <a:ext cx="255422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ESTATUS ACTUAL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50096" y="1226896"/>
            <a:ext cx="788149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16961" y="1226896"/>
            <a:ext cx="721283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166534"/>
                </a:solidFill>
                <a:latin typeface="Poppins"/>
              </a:rPr>
              <a:t>En producción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50096" y="1471041"/>
            <a:ext cx="2395727" cy="642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891" b="0">
                <a:solidFill>
                  <a:srgbClr val="4B5563"/>
                </a:solidFill>
                <a:latin typeface="Open Sans"/>
              </a:rPr>
              <a:t>En producción desde el 18 de agosto. La depuración del tracking está aprobada en QA; el reporte se envía en un correo independiente.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7680" y="3057639"/>
            <a:ext cx="4602480" cy="2028253"/>
          </a:xfrm>
          <a:prstGeom prst="roundRect">
            <a:avLst>
              <a:gd name="adj" fmla="val 540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6176" y="3167367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CONEXIONES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6176" y="3351161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Email Cold Outreach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00777" y="3351161"/>
            <a:ext cx="2730886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recibe de Brevo los eventos de sus correos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6176" y="3583442"/>
            <a:ext cx="1457065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Landing de Agendamiento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00777" y="3583442"/>
            <a:ext cx="2730886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recibe la visita y la reserva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6176" y="3965707"/>
            <a:ext cx="1457065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Reporte de Métricas de Sistema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00777" y="3965707"/>
            <a:ext cx="2730886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comparte la ejecución semanal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212080" y="3057639"/>
            <a:ext cx="2712719" cy="2028253"/>
          </a:xfrm>
          <a:prstGeom prst="roundRect">
            <a:avLst>
              <a:gd name="adj" fmla="val 540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70576" y="3167367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APIS EXTERNAS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370576" y="3351161"/>
            <a:ext cx="452436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70576" y="3351161"/>
            <a:ext cx="452436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Brevo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08356" y="3351161"/>
            <a:ext cx="1857947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webhook de eventos y envío del reporte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46720" y="3057639"/>
            <a:ext cx="3657600" cy="2028253"/>
          </a:xfrm>
          <a:prstGeom prst="roundRect">
            <a:avLst>
              <a:gd name="adj" fmla="val 540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05216" y="3167367"/>
            <a:ext cx="349910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ÉPICAS</a:t>
            </a:r>
          </a:p>
        </p:txBody>
      </p:sp>
      <p:sp>
        <p:nvSpPr>
          <p:cNvPr id="72" name="TextBox 71">
            <a:hlinkClick r:id="rId2"/>
          </p:cNvPr>
          <p:cNvSpPr txBox="1"/>
          <p:nvPr/>
        </p:nvSpPr>
        <p:spPr>
          <a:xfrm>
            <a:off x="8205216" y="3351161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Landing de Agendamiento — MVP (tracking del embudo y reporte semanal)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33760" y="3351161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#90079</a:t>
            </a:r>
          </a:p>
        </p:txBody>
      </p:sp>
      <p:sp>
        <p:nvSpPr>
          <p:cNvPr id="74" name="TextBox 73">
            <a:hlinkClick r:id="rId3"/>
          </p:cNvPr>
          <p:cNvSpPr txBox="1"/>
          <p:nvPr/>
        </p:nvSpPr>
        <p:spPr>
          <a:xfrm>
            <a:off x="8205216" y="3661143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Solvo Sales Platform — Mantenimiento y Ajustes (métricas solo de interacción humana)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33760" y="3661143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#93094</a:t>
            </a:r>
          </a:p>
        </p:txBody>
      </p:sp>
      <p:pic>
        <p:nvPicPr>
          <p:cNvPr id="76" name="Picture 75" descr="SolvoGenAI_Icon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6580593"/>
            <a:ext cx="150876" cy="150876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36092" y="6591223"/>
            <a:ext cx="11065764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29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MAPA DE COMPONENTES · 06/12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41665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9256" y="288036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SOLVO SALES PLATFORM · REPORTE Y MÉTRICAS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506120"/>
            <a:ext cx="11216640" cy="331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11827"/>
                </a:solidFill>
                <a:latin typeface="Poppins"/>
              </a:rPr>
              <a:t>Reporte de Métricas de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1562" y="579843"/>
            <a:ext cx="770659" cy="183794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1562" y="579843"/>
            <a:ext cx="770659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4B5563"/>
                </a:solidFill>
                <a:latin typeface="Consolas"/>
              </a:rPr>
              <a:t>Pipeline n8n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5162016"/>
            <a:ext cx="11216640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SPRINTS TRABAJADOS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3461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33461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3363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3363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3265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3265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7680" y="5377357"/>
            <a:ext cx="3657600" cy="1110310"/>
          </a:xfrm>
          <a:prstGeom prst="roundRect">
            <a:avLst>
              <a:gd name="adj" fmla="val 988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0380" y="5454167"/>
            <a:ext cx="38100" cy="956691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76" y="5476113"/>
            <a:ext cx="64360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4329" y="5510403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4–14 ago</a:t>
            </a:r>
          </a:p>
        </p:txBody>
      </p:sp>
      <p:sp>
        <p:nvSpPr>
          <p:cNvPr id="18" name="Oval 17"/>
          <p:cNvSpPr/>
          <p:nvPr/>
        </p:nvSpPr>
        <p:spPr>
          <a:xfrm>
            <a:off x="646176" y="5771007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188" y="5716143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Registro del consumo de APIs en los cinco pipelines</a:t>
            </a:r>
          </a:p>
        </p:txBody>
      </p:sp>
      <p:sp>
        <p:nvSpPr>
          <p:cNvPr id="20" name="Oval 19"/>
          <p:cNvSpPr/>
          <p:nvPr/>
        </p:nvSpPr>
        <p:spPr>
          <a:xfrm>
            <a:off x="646176" y="5956858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188" y="5901994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Reporte semanal de producción, salud de los pipelines y consumo por proveedor</a:t>
            </a:r>
          </a:p>
        </p:txBody>
      </p:sp>
      <p:sp>
        <p:nvSpPr>
          <p:cNvPr id="22" name="Oval 21"/>
          <p:cNvSpPr/>
          <p:nvPr/>
        </p:nvSpPr>
        <p:spPr>
          <a:xfrm>
            <a:off x="646176" y="6290843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188" y="6235979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Vacantes y contactos de la semana como adjuntos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67200" y="5377357"/>
            <a:ext cx="3657600" cy="1110310"/>
          </a:xfrm>
          <a:prstGeom prst="roundRect">
            <a:avLst>
              <a:gd name="adj" fmla="val 988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9900" y="5454167"/>
            <a:ext cx="38100" cy="956691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25696" y="5476113"/>
            <a:ext cx="672413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2653" y="5510403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28 sep–9 oct</a:t>
            </a:r>
          </a:p>
        </p:txBody>
      </p:sp>
      <p:sp>
        <p:nvSpPr>
          <p:cNvPr id="28" name="Oval 27"/>
          <p:cNvSpPr/>
          <p:nvPr/>
        </p:nvSpPr>
        <p:spPr>
          <a:xfrm>
            <a:off x="4425696" y="5771007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1708" y="5716143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Contactos de la semana listos para importar en Apollo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5377357"/>
            <a:ext cx="3657600" cy="1110310"/>
          </a:xfrm>
          <a:prstGeom prst="roundRect">
            <a:avLst>
              <a:gd name="adj" fmla="val 9882"/>
            </a:avLst>
          </a:prstGeom>
          <a:solidFill>
            <a:srgbClr val="F7F4FF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9420" y="5454167"/>
            <a:ext cx="38100" cy="956691"/>
          </a:xfrm>
          <a:prstGeom prst="rect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5216" y="5476113"/>
            <a:ext cx="634544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74304" y="5510403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13–24 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106091" y="5482971"/>
            <a:ext cx="439732" cy="152247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F1ED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62669" y="5482971"/>
            <a:ext cx="383154" cy="152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594"/>
              </a:lnSpc>
              <a:spcBef>
                <a:spcPts val="0"/>
              </a:spcBef>
              <a:spcAft>
                <a:spcPts val="0"/>
              </a:spcAft>
            </a:pPr>
            <a:r>
              <a:rPr sz="594" b="1">
                <a:solidFill>
                  <a:srgbClr val="775AE5"/>
                </a:solidFill>
                <a:latin typeface="Poppins"/>
              </a:rPr>
              <a:t>En curso</a:t>
            </a:r>
          </a:p>
        </p:txBody>
      </p:sp>
      <p:sp>
        <p:nvSpPr>
          <p:cNvPr id="36" name="Oval 35"/>
          <p:cNvSpPr/>
          <p:nvPr/>
        </p:nvSpPr>
        <p:spPr>
          <a:xfrm>
            <a:off x="8205216" y="5771007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1228" y="5716143"/>
            <a:ext cx="238714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Adjuntos de vacantes y contactos alineados entre sí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61526" y="5728295"/>
            <a:ext cx="784297" cy="12382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B9C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61526" y="5728295"/>
            <a:ext cx="784297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1D4ED8"/>
                </a:solidFill>
                <a:latin typeface="Poppins"/>
              </a:rPr>
              <a:t>FIX DE CALIDAD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7680" y="940231"/>
            <a:ext cx="4602480" cy="2009394"/>
          </a:xfrm>
          <a:prstGeom prst="roundRect">
            <a:avLst>
              <a:gd name="adj" fmla="val 546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176" y="1049959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QUÉ HACE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176" y="1226896"/>
            <a:ext cx="4285488" cy="5404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111827"/>
                </a:solidFill>
                <a:latin typeface="Open Sans"/>
              </a:rPr>
              <a:t>Reporte semanal de la operación del ecosistema: volumen producido por cada pipeline, estado de sus ejecuciones y consumo por proveedor externo.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176" y="2695879"/>
            <a:ext cx="4285488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4B5563"/>
                </a:solidFill>
                <a:latin typeface="Poppins"/>
              </a:rPr>
              <a:t>Corre en  </a:t>
            </a:r>
            <a:r>
              <a:rPr sz="810" b="0">
                <a:solidFill>
                  <a:srgbClr val="9CA3AF"/>
                </a:solidFill>
                <a:latin typeface="Open Sans"/>
              </a:rPr>
              <a:t>n8n · VM de Email Cold Outreach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12080" y="940231"/>
            <a:ext cx="3657600" cy="2009394"/>
          </a:xfrm>
          <a:prstGeom prst="roundRect">
            <a:avLst>
              <a:gd name="adj" fmla="val 5460"/>
            </a:avLst>
          </a:prstGeom>
          <a:solidFill>
            <a:srgbClr val="5A4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70576" y="1049959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DAD5F2"/>
                </a:solidFill>
                <a:latin typeface="Poppins"/>
              </a:rPr>
              <a:t>VALOR PARA EL NEGOCIO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70576" y="1226896"/>
            <a:ext cx="3340608" cy="394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Poppins"/>
              </a:rPr>
              <a:t>Visibilidad semanal de la operación y su costo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70576" y="1682953"/>
            <a:ext cx="3340608" cy="502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928" b="0">
                <a:solidFill>
                  <a:srgbClr val="E4E0F6"/>
                </a:solidFill>
                <a:latin typeface="Open Sans"/>
              </a:rPr>
              <a:t>Informa al negocio y al equipo técnico la producción de cada pipeline, las fallas de ejecución y el gasto por proveedor, sin consultas manuales a la base de datos.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91600" y="940231"/>
            <a:ext cx="2712719" cy="2009394"/>
          </a:xfrm>
          <a:prstGeom prst="roundRect">
            <a:avLst>
              <a:gd name="adj" fmla="val 546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50096" y="1049959"/>
            <a:ext cx="255422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ESTATUS ACTUAL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50096" y="1226896"/>
            <a:ext cx="788149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16961" y="1226896"/>
            <a:ext cx="721283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166534"/>
                </a:solidFill>
                <a:latin typeface="Poppins"/>
              </a:rPr>
              <a:t>En producción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50096" y="1471041"/>
            <a:ext cx="2395727" cy="3213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891" b="0">
                <a:solidFill>
                  <a:srgbClr val="4B5563"/>
                </a:solidFill>
                <a:latin typeface="Open Sans"/>
              </a:rPr>
              <a:t>En producción con envío semanal. Ajustes de los adjuntos en curso.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7680" y="3038779"/>
            <a:ext cx="4602480" cy="2009394"/>
          </a:xfrm>
          <a:prstGeom prst="roundRect">
            <a:avLst>
              <a:gd name="adj" fmla="val 546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6176" y="3148507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CONEXIONES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6176" y="3332302"/>
            <a:ext cx="1457065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Pipelines del Prospect Engine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00777" y="3332302"/>
            <a:ext cx="2730886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consume su producción y su registro de consumo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6176" y="3714567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Reporte de Funnel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00777" y="3714567"/>
            <a:ext cx="2730886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ejecuta su cálculo semanal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212080" y="3038779"/>
            <a:ext cx="2712719" cy="2009394"/>
          </a:xfrm>
          <a:prstGeom prst="roundRect">
            <a:avLst>
              <a:gd name="adj" fmla="val 546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70576" y="3148507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APIS EXTERNAS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70576" y="3332302"/>
            <a:ext cx="452436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70576" y="3332302"/>
            <a:ext cx="452436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Brevo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8356" y="3369163"/>
            <a:ext cx="1857947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envío del reporte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46720" y="3038779"/>
            <a:ext cx="3657600" cy="2009394"/>
          </a:xfrm>
          <a:prstGeom prst="roundRect">
            <a:avLst>
              <a:gd name="adj" fmla="val 546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05216" y="3148507"/>
            <a:ext cx="349910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ÉPICAS</a:t>
            </a:r>
          </a:p>
        </p:txBody>
      </p:sp>
      <p:sp>
        <p:nvSpPr>
          <p:cNvPr id="66" name="TextBox 65">
            <a:hlinkClick r:id="rId2"/>
          </p:cNvPr>
          <p:cNvSpPr txBox="1"/>
          <p:nvPr/>
        </p:nvSpPr>
        <p:spPr>
          <a:xfrm>
            <a:off x="8205216" y="3332302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Reporte de Estatus del Sistema — MVP (reporte semanal de producción y consumo)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33760" y="3332302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#92485</a:t>
            </a:r>
          </a:p>
        </p:txBody>
      </p:sp>
      <p:sp>
        <p:nvSpPr>
          <p:cNvPr id="68" name="TextBox 67">
            <a:hlinkClick r:id="rId3"/>
          </p:cNvPr>
          <p:cNvSpPr txBox="1"/>
          <p:nvPr/>
        </p:nvSpPr>
        <p:spPr>
          <a:xfrm>
            <a:off x="8205216" y="3642283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Ajustes Prospect Engine (adjuntos de vacantes y contactos alineados)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33760" y="3642283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#95102</a:t>
            </a:r>
          </a:p>
        </p:txBody>
      </p:sp>
      <p:pic>
        <p:nvPicPr>
          <p:cNvPr id="70" name="Picture 69" descr="SolvoGenAI_Icon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6580593"/>
            <a:ext cx="150876" cy="150876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736092" y="6591223"/>
            <a:ext cx="11065764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29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MAPA DE COMPONENTES · 07/12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41665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9256" y="288036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SOLVO SALES PLATFORM · PROSPECT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506120"/>
            <a:ext cx="11216640" cy="331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11827"/>
                </a:solidFill>
                <a:latin typeface="Poppins"/>
              </a:rPr>
              <a:t>Current Client US Openings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52986" y="579843"/>
            <a:ext cx="770659" cy="183794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2986" y="579843"/>
            <a:ext cx="770659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4B5563"/>
                </a:solidFill>
                <a:latin typeface="Consolas"/>
              </a:rPr>
              <a:t>Pipeline n8n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5496001"/>
            <a:ext cx="11216640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SPRINTS TRABAJADOS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3461" y="5478170"/>
            <a:ext cx="203998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33461" y="5478170"/>
            <a:ext cx="203998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6227" y="5478170"/>
            <a:ext cx="203998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6227" y="5478170"/>
            <a:ext cx="203998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8994" y="5478170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8994" y="5478170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8896" y="5478170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8896" y="5478170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8798" y="5478170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38798" y="5478170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8700" y="5478170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38700" y="5478170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38602" y="5478170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8602" y="5478170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7680" y="5711342"/>
            <a:ext cx="3657600" cy="776325"/>
          </a:xfrm>
          <a:prstGeom prst="roundRect">
            <a:avLst>
              <a:gd name="adj" fmla="val 1413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0380" y="5788152"/>
            <a:ext cx="38100" cy="622706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176" y="5810097"/>
            <a:ext cx="64909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9816" y="5844387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6–17 jul</a:t>
            </a:r>
          </a:p>
        </p:txBody>
      </p:sp>
      <p:sp>
        <p:nvSpPr>
          <p:cNvPr id="26" name="Oval 25"/>
          <p:cNvSpPr/>
          <p:nvPr/>
        </p:nvSpPr>
        <p:spPr>
          <a:xfrm>
            <a:off x="646176" y="6104991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188" y="6050127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Conexión a la base de datos productiva en los tres ambientes</a:t>
            </a:r>
          </a:p>
        </p:txBody>
      </p:sp>
      <p:sp>
        <p:nvSpPr>
          <p:cNvPr id="28" name="Oval 27"/>
          <p:cNvSpPr/>
          <p:nvPr/>
        </p:nvSpPr>
        <p:spPr>
          <a:xfrm>
            <a:off x="646176" y="6290843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2188" y="6235979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Documentación de handoff actualizada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67200" y="5711342"/>
            <a:ext cx="3657600" cy="776325"/>
          </a:xfrm>
          <a:prstGeom prst="roundRect">
            <a:avLst>
              <a:gd name="adj" fmla="val 1413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79900" y="5788152"/>
            <a:ext cx="38100" cy="622706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5810097"/>
            <a:ext cx="645388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5628" y="5844387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21–31 jul</a:t>
            </a:r>
          </a:p>
        </p:txBody>
      </p:sp>
      <p:sp>
        <p:nvSpPr>
          <p:cNvPr id="34" name="Oval 33"/>
          <p:cNvSpPr/>
          <p:nvPr/>
        </p:nvSpPr>
        <p:spPr>
          <a:xfrm>
            <a:off x="4425696" y="6104991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1708" y="6050127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Cartera de clientes cargada con su vendedor asignado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5711342"/>
            <a:ext cx="3657600" cy="776325"/>
          </a:xfrm>
          <a:prstGeom prst="roundRect">
            <a:avLst>
              <a:gd name="adj" fmla="val 14134"/>
            </a:avLst>
          </a:prstGeom>
          <a:solidFill>
            <a:srgbClr val="F7F4FF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59420" y="5788152"/>
            <a:ext cx="38100" cy="622706"/>
          </a:xfrm>
          <a:prstGeom prst="rect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5216" y="5810097"/>
            <a:ext cx="634544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74304" y="5844387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13–24 oct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106091" y="5816955"/>
            <a:ext cx="439732" cy="152247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F1ED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62669" y="5816955"/>
            <a:ext cx="383154" cy="152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594"/>
              </a:lnSpc>
              <a:spcBef>
                <a:spcPts val="0"/>
              </a:spcBef>
              <a:spcAft>
                <a:spcPts val="0"/>
              </a:spcAft>
            </a:pPr>
            <a:r>
              <a:rPr sz="594" b="1">
                <a:solidFill>
                  <a:srgbClr val="775AE5"/>
                </a:solidFill>
                <a:latin typeface="Poppins"/>
              </a:rPr>
              <a:t>En curso</a:t>
            </a:r>
          </a:p>
        </p:txBody>
      </p:sp>
      <p:sp>
        <p:nvSpPr>
          <p:cNvPr id="42" name="Oval 41"/>
          <p:cNvSpPr/>
          <p:nvPr/>
        </p:nvSpPr>
        <p:spPr>
          <a:xfrm>
            <a:off x="8205216" y="6104991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01228" y="6050127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Certificación del flujo de punta a punta sobre una muestra de la cartera real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7680" y="940231"/>
            <a:ext cx="4602480" cy="2176386"/>
          </a:xfrm>
          <a:prstGeom prst="roundRect">
            <a:avLst>
              <a:gd name="adj" fmla="val 5041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176" y="1049959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QUÉ HACE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176" y="1226896"/>
            <a:ext cx="4285488" cy="5404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111827"/>
                </a:solidFill>
                <a:latin typeface="Open Sans"/>
              </a:rPr>
              <a:t>Detecta las vacantes publicadas en Indeed y LinkedIn por las empresas cliente de Solvo y notifica a cada comercial las posiciones abiertas de sus cuentas.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6176" y="2862872"/>
            <a:ext cx="4285488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4B5563"/>
                </a:solidFill>
                <a:latin typeface="Poppins"/>
              </a:rPr>
              <a:t>Corre en  </a:t>
            </a:r>
            <a:r>
              <a:rPr sz="810" b="0">
                <a:solidFill>
                  <a:srgbClr val="9CA3AF"/>
                </a:solidFill>
                <a:latin typeface="Open Sans"/>
              </a:rPr>
              <a:t>n8n · VM dedicada (compartida con On-Demand Openings)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12080" y="940231"/>
            <a:ext cx="3657600" cy="2176386"/>
          </a:xfrm>
          <a:prstGeom prst="roundRect">
            <a:avLst>
              <a:gd name="adj" fmla="val 5041"/>
            </a:avLst>
          </a:prstGeom>
          <a:solidFill>
            <a:srgbClr val="5A4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70576" y="1049959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DAD5F2"/>
                </a:solidFill>
                <a:latin typeface="Poppins"/>
              </a:rPr>
              <a:t>VALOR PARA EL NEGOCIO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70576" y="1226896"/>
            <a:ext cx="3340608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Poppins"/>
              </a:rPr>
              <a:t>Automatización de señales comerciales sobre la cartera de clientes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70576" y="1880120"/>
            <a:ext cx="3340608" cy="502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928" b="0">
                <a:solidFill>
                  <a:srgbClr val="E4E0F6"/>
                </a:solidFill>
                <a:latin typeface="Open Sans"/>
              </a:rPr>
              <a:t>Los BCs reciben las posiciones abiertas de sus clientes que Solvo podría cubrir, sin consultar cada cuenta de forma manual. Cobertura inicial: más de 158 clientes de 2 BCs.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91600" y="940231"/>
            <a:ext cx="2712719" cy="2176386"/>
          </a:xfrm>
          <a:prstGeom prst="roundRect">
            <a:avLst>
              <a:gd name="adj" fmla="val 5041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50096" y="1049959"/>
            <a:ext cx="255422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ESTATUS ACTUAL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50096" y="1226896"/>
            <a:ext cx="788149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16961" y="1226896"/>
            <a:ext cx="721283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166534"/>
                </a:solidFill>
                <a:latin typeface="Poppins"/>
              </a:rPr>
              <a:t>En producción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87013" y="1226896"/>
            <a:ext cx="959937" cy="168706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3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53878" y="1226896"/>
            <a:ext cx="893072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B91C1C"/>
                </a:solidFill>
                <a:latin typeface="Poppins"/>
              </a:rPr>
              <a:t>! Bugs detectados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50096" y="1471041"/>
            <a:ext cx="2395727" cy="642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891" b="0">
                <a:solidFill>
                  <a:srgbClr val="4B5563"/>
                </a:solidFill>
                <a:latin typeface="Open Sans"/>
              </a:rPr>
              <a:t>En producción sobre la cartera inicial de más de 158 clientes de 2 BCs. Se identificaron bugs en la operación productiva.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87680" y="3205772"/>
            <a:ext cx="4602480" cy="2176386"/>
          </a:xfrm>
          <a:prstGeom prst="roundRect">
            <a:avLst>
              <a:gd name="adj" fmla="val 5041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6176" y="3315500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CONEXIONES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6176" y="3499294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Solvo Platform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00777" y="3499294"/>
            <a:ext cx="2730886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provee los clientes y su comercial asignado; recibe las vacantes detectadas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6176" y="3881559"/>
            <a:ext cx="1457065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Reporte de Métricas de Sistema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00777" y="3881559"/>
            <a:ext cx="2730886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consume sus vacantes y su registro de consumo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212080" y="3205772"/>
            <a:ext cx="2712719" cy="2176386"/>
          </a:xfrm>
          <a:prstGeom prst="roundRect">
            <a:avLst>
              <a:gd name="adj" fmla="val 5041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70576" y="3315500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APIS EXTERNAS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370576" y="3499294"/>
            <a:ext cx="585426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70576" y="3499294"/>
            <a:ext cx="585426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Oxylabs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41346" y="3499294"/>
            <a:ext cx="1724957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perfil de la empresa y vacantes de Indeed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70576" y="3826421"/>
            <a:ext cx="424499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70576" y="3826421"/>
            <a:ext cx="424499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Apify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80419" y="3863282"/>
            <a:ext cx="188588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vacantes de LinkedIn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370576" y="4097997"/>
            <a:ext cx="758394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70576" y="4097997"/>
            <a:ext cx="758394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Bright Data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4314" y="4097997"/>
            <a:ext cx="1551989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detalle de las vacantes de LinkedIn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370576" y="4425124"/>
            <a:ext cx="452436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70576" y="4425124"/>
            <a:ext cx="452436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Brevo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08356" y="4461986"/>
            <a:ext cx="1857947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correo al comercial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046720" y="3205772"/>
            <a:ext cx="3657600" cy="2176386"/>
          </a:xfrm>
          <a:prstGeom prst="roundRect">
            <a:avLst>
              <a:gd name="adj" fmla="val 5041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05216" y="3315500"/>
            <a:ext cx="349910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ÉPICAS</a:t>
            </a:r>
          </a:p>
        </p:txBody>
      </p:sp>
      <p:sp>
        <p:nvSpPr>
          <p:cNvPr id="81" name="TextBox 80">
            <a:hlinkClick r:id="rId2"/>
          </p:cNvPr>
          <p:cNvSpPr txBox="1"/>
          <p:nvPr/>
        </p:nvSpPr>
        <p:spPr>
          <a:xfrm>
            <a:off x="8205216" y="3499294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Current Client US Openings — MVP (vacantes de clientes y aviso al comercial)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33760" y="3499294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#75022</a:t>
            </a:r>
          </a:p>
        </p:txBody>
      </p:sp>
      <p:sp>
        <p:nvSpPr>
          <p:cNvPr id="83" name="TextBox 82">
            <a:hlinkClick r:id="rId3"/>
          </p:cNvPr>
          <p:cNvSpPr txBox="1"/>
          <p:nvPr/>
        </p:nvSpPr>
        <p:spPr>
          <a:xfrm>
            <a:off x="8205216" y="3809276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Current Client US Openings — CR Migración de Infraestructura (paso a Azure)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033760" y="3809276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#82718</a:t>
            </a:r>
          </a:p>
        </p:txBody>
      </p:sp>
      <p:sp>
        <p:nvSpPr>
          <p:cNvPr id="85" name="TextBox 84">
            <a:hlinkClick r:id="rId4"/>
          </p:cNvPr>
          <p:cNvSpPr txBox="1"/>
          <p:nvPr/>
        </p:nvSpPr>
        <p:spPr>
          <a:xfrm>
            <a:off x="8205216" y="4119257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Current Client US Openings — Despliegue a Producción (revisión del flujo y carga de clientes)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33760" y="4119257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#88520</a:t>
            </a:r>
          </a:p>
        </p:txBody>
      </p:sp>
      <p:sp>
        <p:nvSpPr>
          <p:cNvPr id="87" name="TextBox 86">
            <a:hlinkClick r:id="rId5"/>
          </p:cNvPr>
          <p:cNvSpPr txBox="1"/>
          <p:nvPr/>
        </p:nvSpPr>
        <p:spPr>
          <a:xfrm>
            <a:off x="8205216" y="4429239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Ajustes Prospect Engine (puesta en operación sobre la cartera real)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33760" y="4429239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#95102</a:t>
            </a:r>
          </a:p>
        </p:txBody>
      </p:sp>
      <p:pic>
        <p:nvPicPr>
          <p:cNvPr id="89" name="Picture 88" descr="SolvoGenAI_Icon_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" y="6580593"/>
            <a:ext cx="150876" cy="150876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36092" y="6591223"/>
            <a:ext cx="11065764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29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MAPA DE COMPONENTES · 08/12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41665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9256" y="288036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SOLVO SALES PLATFORM · APP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506120"/>
            <a:ext cx="11216640" cy="331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11827"/>
                </a:solidFill>
                <a:latin typeface="Poppins"/>
              </a:rPr>
              <a:t>Solvo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97179" y="579843"/>
            <a:ext cx="929033" cy="183794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97179" y="579843"/>
            <a:ext cx="929033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4B5563"/>
                </a:solidFill>
                <a:latin typeface="Consolas"/>
              </a:rPr>
              <a:t>App web interna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5162016"/>
            <a:ext cx="11216640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SPRINTS TRABAJADOS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3461" y="5144185"/>
            <a:ext cx="203998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33461" y="5144185"/>
            <a:ext cx="203998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6227" y="5144185"/>
            <a:ext cx="203998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6227" y="5144185"/>
            <a:ext cx="203998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8994" y="5144185"/>
            <a:ext cx="203998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8994" y="5144185"/>
            <a:ext cx="203998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91761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1761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1663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1663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91565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91565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1467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1467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1369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1369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1271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1271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S19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1173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91173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91075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1075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7680" y="5377357"/>
            <a:ext cx="3657600" cy="1110310"/>
          </a:xfrm>
          <a:prstGeom prst="roundRect">
            <a:avLst>
              <a:gd name="adj" fmla="val 988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0380" y="5454167"/>
            <a:ext cx="38100" cy="956691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176" y="5476113"/>
            <a:ext cx="640588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1308" y="5510403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14–25 sep</a:t>
            </a:r>
          </a:p>
        </p:txBody>
      </p:sp>
      <p:sp>
        <p:nvSpPr>
          <p:cNvPr id="34" name="Oval 33"/>
          <p:cNvSpPr/>
          <p:nvPr/>
        </p:nvSpPr>
        <p:spPr>
          <a:xfrm>
            <a:off x="646176" y="5771007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2188" y="5716143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Filtros por contactos, industria y tamaño en los listados de vacantes y empresas</a:t>
            </a:r>
          </a:p>
        </p:txBody>
      </p:sp>
      <p:sp>
        <p:nvSpPr>
          <p:cNvPr id="36" name="Oval 35"/>
          <p:cNvSpPr/>
          <p:nvPr/>
        </p:nvSpPr>
        <p:spPr>
          <a:xfrm>
            <a:off x="646176" y="6104991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2188" y="6050127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Sistema de diseño base para Release 3</a:t>
            </a:r>
          </a:p>
        </p:txBody>
      </p:sp>
      <p:sp>
        <p:nvSpPr>
          <p:cNvPr id="38" name="Oval 37"/>
          <p:cNvSpPr/>
          <p:nvPr/>
        </p:nvSpPr>
        <p:spPr>
          <a:xfrm>
            <a:off x="646176" y="6290843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2188" y="6235979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Promoción controlada de QA a producción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67200" y="5377357"/>
            <a:ext cx="3657600" cy="1110310"/>
          </a:xfrm>
          <a:prstGeom prst="roundRect">
            <a:avLst>
              <a:gd name="adj" fmla="val 988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79900" y="5454167"/>
            <a:ext cx="38100" cy="956691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25696" y="5476113"/>
            <a:ext cx="672413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32653" y="5510403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28 sep–9 oct</a:t>
            </a:r>
          </a:p>
        </p:txBody>
      </p:sp>
      <p:sp>
        <p:nvSpPr>
          <p:cNvPr id="44" name="Oval 43"/>
          <p:cNvSpPr/>
          <p:nvPr/>
        </p:nvSpPr>
        <p:spPr>
          <a:xfrm>
            <a:off x="4425696" y="5771007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1708" y="5716143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Listado de posiciones abiertas con filtros y exportación</a:t>
            </a:r>
          </a:p>
        </p:txBody>
      </p:sp>
      <p:sp>
        <p:nvSpPr>
          <p:cNvPr id="46" name="Oval 45"/>
          <p:cNvSpPr/>
          <p:nvPr/>
        </p:nvSpPr>
        <p:spPr>
          <a:xfrm>
            <a:off x="4425696" y="5956858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21708" y="5901994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Gestión de la posición: edición, estado comercial, asignación y borrado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5377357"/>
            <a:ext cx="3657600" cy="1110310"/>
          </a:xfrm>
          <a:prstGeom prst="roundRect">
            <a:avLst>
              <a:gd name="adj" fmla="val 9882"/>
            </a:avLst>
          </a:prstGeom>
          <a:solidFill>
            <a:srgbClr val="F7F4FF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59420" y="5454167"/>
            <a:ext cx="38100" cy="956691"/>
          </a:xfrm>
          <a:prstGeom prst="rect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05216" y="5476113"/>
            <a:ext cx="634544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74304" y="5510403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13–24 oct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106091" y="5482971"/>
            <a:ext cx="439732" cy="152247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F1ED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62669" y="5482971"/>
            <a:ext cx="383154" cy="152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594"/>
              </a:lnSpc>
              <a:spcBef>
                <a:spcPts val="0"/>
              </a:spcBef>
              <a:spcAft>
                <a:spcPts val="0"/>
              </a:spcAft>
            </a:pPr>
            <a:r>
              <a:rPr sz="594" b="1">
                <a:solidFill>
                  <a:srgbClr val="775AE5"/>
                </a:solidFill>
                <a:latin typeface="Poppins"/>
              </a:rPr>
              <a:t>En curso</a:t>
            </a:r>
          </a:p>
        </p:txBody>
      </p:sp>
      <p:sp>
        <p:nvSpPr>
          <p:cNvPr id="54" name="Oval 53"/>
          <p:cNvSpPr/>
          <p:nvPr/>
        </p:nvSpPr>
        <p:spPr>
          <a:xfrm>
            <a:off x="8205216" y="5771007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01228" y="5716143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Detalle de la posición</a:t>
            </a:r>
          </a:p>
        </p:txBody>
      </p:sp>
      <p:sp>
        <p:nvSpPr>
          <p:cNvPr id="56" name="Oval 55"/>
          <p:cNvSpPr/>
          <p:nvPr/>
        </p:nvSpPr>
        <p:spPr>
          <a:xfrm>
            <a:off x="8205216" y="5956858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01228" y="5901994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Configuración de la ventana de búsqueda on-demand</a:t>
            </a:r>
          </a:p>
        </p:txBody>
      </p:sp>
      <p:sp>
        <p:nvSpPr>
          <p:cNvPr id="58" name="Oval 57"/>
          <p:cNvSpPr/>
          <p:nvPr/>
        </p:nvSpPr>
        <p:spPr>
          <a:xfrm>
            <a:off x="8205216" y="6142710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01228" y="6087846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Administración del showcase de la landing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7680" y="940231"/>
            <a:ext cx="4602480" cy="1704213"/>
          </a:xfrm>
          <a:prstGeom prst="roundRect">
            <a:avLst>
              <a:gd name="adj" fmla="val 64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6176" y="1049959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QUÉ HACE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6176" y="1226896"/>
            <a:ext cx="4285488" cy="5404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111827"/>
                </a:solidFill>
                <a:latin typeface="Open Sans"/>
              </a:rPr>
              <a:t>Aplicación web del equipo comercial para la gestión de empresas, vacantes y contactos, la asignación de cartera y el seguimiento del pipeline comercial.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6176" y="2390698"/>
            <a:ext cx="4285488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4B5563"/>
                </a:solidFill>
                <a:latin typeface="Poppins"/>
              </a:rPr>
              <a:t>Corre en  </a:t>
            </a:r>
            <a:r>
              <a:rPr sz="810" b="0">
                <a:solidFill>
                  <a:srgbClr val="9CA3AF"/>
                </a:solidFill>
                <a:latin typeface="Open Sans"/>
              </a:rPr>
              <a:t>Angular (Static Web App) · NestJS (Container App) · SSO Entra ID, 5 roles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212080" y="940231"/>
            <a:ext cx="3657600" cy="1704213"/>
          </a:xfrm>
          <a:prstGeom prst="roundRect">
            <a:avLst>
              <a:gd name="adj" fmla="val 6438"/>
            </a:avLst>
          </a:prstGeom>
          <a:solidFill>
            <a:srgbClr val="5A4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70576" y="1049959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DAD5F2"/>
                </a:solidFill>
                <a:latin typeface="Poppins"/>
              </a:rPr>
              <a:t>VALOR PARA EL NEGOCIO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70576" y="1226896"/>
            <a:ext cx="3340608" cy="394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Poppins"/>
              </a:rPr>
              <a:t>Gestión centralizada del pipeline comercial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70576" y="1682953"/>
            <a:ext cx="3340608" cy="669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928" b="0">
                <a:solidFill>
                  <a:srgbClr val="E4E0F6"/>
                </a:solidFill>
                <a:latin typeface="Open Sans"/>
              </a:rPr>
              <a:t>Concentra en una sola herramienta la información que producen los pipelines y permite a cada usuario trabajar su cartera según su rol, sin extracciones manuales de la base de datos.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91600" y="940231"/>
            <a:ext cx="2712719" cy="1704213"/>
          </a:xfrm>
          <a:prstGeom prst="roundRect">
            <a:avLst>
              <a:gd name="adj" fmla="val 6438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50096" y="1049959"/>
            <a:ext cx="255422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ESTATUS ACTUAL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150096" y="1226896"/>
            <a:ext cx="783587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16961" y="1226896"/>
            <a:ext cx="716721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631" b="1">
                <a:solidFill>
                  <a:srgbClr val="166534"/>
                </a:solidFill>
                <a:latin typeface="Consolas"/>
              </a:rPr>
              <a:t>PROD </a:t>
            </a:r>
            <a:r>
              <a:rPr sz="702" b="1">
                <a:solidFill>
                  <a:srgbClr val="166534"/>
                </a:solidFill>
                <a:latin typeface="Poppins"/>
              </a:rPr>
              <a:t>Release 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982451" y="1226896"/>
            <a:ext cx="698386" cy="16870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6C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049316" y="1226896"/>
            <a:ext cx="631520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631" b="1">
                <a:solidFill>
                  <a:srgbClr val="92400E"/>
                </a:solidFill>
                <a:latin typeface="Consolas"/>
              </a:rPr>
              <a:t>QA </a:t>
            </a:r>
            <a:r>
              <a:rPr sz="702" b="1">
                <a:solidFill>
                  <a:srgbClr val="92400E"/>
                </a:solidFill>
                <a:latin typeface="Poppins"/>
              </a:rPr>
              <a:t>Release 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50096" y="1471041"/>
            <a:ext cx="2395727" cy="482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891" b="0">
                <a:solidFill>
                  <a:srgbClr val="4B5563"/>
                </a:solidFill>
                <a:latin typeface="Open Sans"/>
              </a:rPr>
              <a:t>MVP, roles y mantenimiento en producción. Release 3 en desarrollo; el módulo Open Positions se encuentra completo en QA.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87680" y="2733598"/>
            <a:ext cx="4602480" cy="2314575"/>
          </a:xfrm>
          <a:prstGeom prst="roundRect">
            <a:avLst>
              <a:gd name="adj" fmla="val 474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176" y="2843326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CONEXIONES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6176" y="3027121"/>
            <a:ext cx="1457065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Pipelines del Prospect Engine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00777" y="3027121"/>
            <a:ext cx="2730886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consume la información que registran en la base compartida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6176" y="3409386"/>
            <a:ext cx="1457065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Company Decision Maker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00777" y="3409386"/>
            <a:ext cx="2730886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solicita la investigación de una empresa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6176" y="3791651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On-Demand Openings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00777" y="3791651"/>
            <a:ext cx="2730886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solicita la búsqueda de vacantes y recibe el resultado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212080" y="2733598"/>
            <a:ext cx="2712719" cy="2314575"/>
          </a:xfrm>
          <a:prstGeom prst="roundRect">
            <a:avLst>
              <a:gd name="adj" fmla="val 474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70576" y="2843326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APIS EXTERNAS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370576" y="3027121"/>
            <a:ext cx="1095761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70576" y="3027121"/>
            <a:ext cx="1095761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Microsoft Entra ID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51681" y="3063982"/>
            <a:ext cx="1214622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SSO y roles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370576" y="3298698"/>
            <a:ext cx="555778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70576" y="3298698"/>
            <a:ext cx="555778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Vía n8n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11698" y="3298698"/>
            <a:ext cx="1754605" cy="38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investigación y búsqueda on-demand: no llama a terceros directo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046720" y="2733598"/>
            <a:ext cx="3657600" cy="2314575"/>
          </a:xfrm>
          <a:prstGeom prst="roundRect">
            <a:avLst>
              <a:gd name="adj" fmla="val 474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05216" y="2843326"/>
            <a:ext cx="349910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ÉPICAS</a:t>
            </a:r>
          </a:p>
        </p:txBody>
      </p:sp>
      <p:sp>
        <p:nvSpPr>
          <p:cNvPr id="93" name="TextBox 92">
            <a:hlinkClick r:id="rId2"/>
          </p:cNvPr>
          <p:cNvSpPr txBox="1"/>
          <p:nvPr/>
        </p:nvSpPr>
        <p:spPr>
          <a:xfrm>
            <a:off x="8205216" y="3027121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Solvo Platform — MVP (SSO, empresas, vacantes y pipeline comercial)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33760" y="3027121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#80025</a:t>
            </a:r>
          </a:p>
        </p:txBody>
      </p:sp>
      <p:sp>
        <p:nvSpPr>
          <p:cNvPr id="95" name="TextBox 94">
            <a:hlinkClick r:id="rId3"/>
          </p:cNvPr>
          <p:cNvSpPr txBox="1"/>
          <p:nvPr/>
        </p:nvSpPr>
        <p:spPr>
          <a:xfrm>
            <a:off x="8205216" y="3337102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Solvo Platform — Mejoras MVP CR (filtros de relevancia y cierre por inactividad)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33760" y="3337102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#85208</a:t>
            </a:r>
          </a:p>
        </p:txBody>
      </p:sp>
      <p:sp>
        <p:nvSpPr>
          <p:cNvPr id="97" name="TextBox 96">
            <a:hlinkClick r:id="rId4"/>
          </p:cNvPr>
          <p:cNvSpPr txBox="1"/>
          <p:nvPr/>
        </p:nvSpPr>
        <p:spPr>
          <a:xfrm>
            <a:off x="8205216" y="3647084"/>
            <a:ext cx="282854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Solvo Platform — Release 2 (roles y control de acceso)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033760" y="3647084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#87103</a:t>
            </a:r>
          </a:p>
        </p:txBody>
      </p:sp>
      <p:sp>
        <p:nvSpPr>
          <p:cNvPr id="99" name="TextBox 98">
            <a:hlinkClick r:id="rId5"/>
          </p:cNvPr>
          <p:cNvSpPr txBox="1"/>
          <p:nvPr/>
        </p:nvSpPr>
        <p:spPr>
          <a:xfrm>
            <a:off x="8205216" y="3827792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Solvo Platform — Ajustes UI CR (Sales Rep y ajustes de listados)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033760" y="3827792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#88845</a:t>
            </a:r>
          </a:p>
        </p:txBody>
      </p:sp>
      <p:sp>
        <p:nvSpPr>
          <p:cNvPr id="101" name="TextBox 100">
            <a:hlinkClick r:id="rId6"/>
          </p:cNvPr>
          <p:cNvSpPr txBox="1"/>
          <p:nvPr/>
        </p:nvSpPr>
        <p:spPr>
          <a:xfrm>
            <a:off x="8205216" y="4137774"/>
            <a:ext cx="282854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Mitigación Pentest SolvoPlatform (hardening de seguridad)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033760" y="4137774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#89557</a:t>
            </a:r>
          </a:p>
        </p:txBody>
      </p:sp>
      <p:sp>
        <p:nvSpPr>
          <p:cNvPr id="103" name="TextBox 102">
            <a:hlinkClick r:id="rId7"/>
          </p:cNvPr>
          <p:cNvSpPr txBox="1"/>
          <p:nvPr/>
        </p:nvSpPr>
        <p:spPr>
          <a:xfrm>
            <a:off x="8205216" y="4318482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Solvo Sales Platform — Mantenimiento y Ajustes (filtros, industria y exportación)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033760" y="4318482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#93094</a:t>
            </a:r>
          </a:p>
        </p:txBody>
      </p:sp>
      <p:sp>
        <p:nvSpPr>
          <p:cNvPr id="105" name="TextBox 104">
            <a:hlinkClick r:id="rId8"/>
          </p:cNvPr>
          <p:cNvSpPr txBox="1"/>
          <p:nvPr/>
        </p:nvSpPr>
        <p:spPr>
          <a:xfrm>
            <a:off x="8205216" y="4628464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Solvo Sales Platform — Release 3 (rediseño sobre el motor de prospección)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033760" y="4628464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#95132</a:t>
            </a:r>
          </a:p>
        </p:txBody>
      </p:sp>
      <p:pic>
        <p:nvPicPr>
          <p:cNvPr id="107" name="Picture 106" descr="SolvoGenAI_Icon_Col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680" y="6580593"/>
            <a:ext cx="150876" cy="150876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736092" y="6591223"/>
            <a:ext cx="11065764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29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MAPA DE COMPONENTES · 09/12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41665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9256" y="288036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SOLVO SALES PLATFORM · PROSPECT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506120"/>
            <a:ext cx="11216640" cy="331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11827"/>
                </a:solidFill>
                <a:latin typeface="Poppins"/>
              </a:rPr>
              <a:t>Prospect Engine España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7105" y="579843"/>
            <a:ext cx="770659" cy="183794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67105" y="579843"/>
            <a:ext cx="770659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4B5563"/>
                </a:solidFill>
                <a:latin typeface="Consolas"/>
              </a:rPr>
              <a:t>Pipeline n8n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5347868"/>
            <a:ext cx="11216640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SPRINTS TRABAJADOS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3461" y="5323179"/>
            <a:ext cx="987085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9CA3AF"/>
                </a:solidFill>
                <a:latin typeface="Open Sans"/>
              </a:rPr>
              <a:t>Aún sin sprints trabajados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" y="5563209"/>
            <a:ext cx="3657600" cy="924458"/>
          </a:xfrm>
          <a:prstGeom prst="roundRect">
            <a:avLst>
              <a:gd name="adj" fmla="val 11869"/>
            </a:avLst>
          </a:prstGeom>
          <a:solidFill>
            <a:srgbClr val="FFFFFF"/>
          </a:solidFill>
          <a:ln w="12700">
            <a:solidFill>
              <a:srgbClr val="CFC3F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0380" y="5640019"/>
            <a:ext cx="38100" cy="770839"/>
          </a:xfrm>
          <a:prstGeom prst="rect">
            <a:avLst/>
          </a:prstGeom>
          <a:solidFill>
            <a:srgbClr val="78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76" y="5661964"/>
            <a:ext cx="66129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2010" y="5696254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26 oct–6 nov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5289" y="5668822"/>
            <a:ext cx="561494" cy="152247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F1ED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1868" y="5668822"/>
            <a:ext cx="504915" cy="152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594"/>
              </a:lnSpc>
              <a:spcBef>
                <a:spcPts val="0"/>
              </a:spcBef>
              <a:spcAft>
                <a:spcPts val="0"/>
              </a:spcAft>
            </a:pPr>
            <a:r>
              <a:rPr sz="594" b="1">
                <a:solidFill>
                  <a:srgbClr val="775AE5"/>
                </a:solidFill>
                <a:latin typeface="Poppins"/>
              </a:rPr>
              <a:t>Proyectado</a:t>
            </a:r>
          </a:p>
        </p:txBody>
      </p:sp>
      <p:sp>
        <p:nvSpPr>
          <p:cNvPr id="15" name="Oval 14"/>
          <p:cNvSpPr/>
          <p:nvPr/>
        </p:nvSpPr>
        <p:spPr>
          <a:xfrm>
            <a:off x="646176" y="5956858"/>
            <a:ext cx="41148" cy="41148"/>
          </a:xfrm>
          <a:prstGeom prst="ellipse">
            <a:avLst/>
          </a:prstGeom>
          <a:solidFill>
            <a:srgbClr val="78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188" y="5901994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Prueba del motor de prospección sobre portales de empleo españoles</a:t>
            </a:r>
          </a:p>
        </p:txBody>
      </p:sp>
      <p:sp>
        <p:nvSpPr>
          <p:cNvPr id="17" name="Oval 16"/>
          <p:cNvSpPr/>
          <p:nvPr/>
        </p:nvSpPr>
        <p:spPr>
          <a:xfrm>
            <a:off x="646176" y="6290843"/>
            <a:ext cx="41148" cy="41148"/>
          </a:xfrm>
          <a:prstGeom prst="ellipse">
            <a:avLst/>
          </a:prstGeom>
          <a:solidFill>
            <a:srgbClr val="78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188" y="6235979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Definición de ciudades y términos de búsqueda de España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7200" y="5563209"/>
            <a:ext cx="3657600" cy="924458"/>
          </a:xfrm>
          <a:prstGeom prst="roundRect">
            <a:avLst>
              <a:gd name="adj" fmla="val 118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67200" y="5563209"/>
            <a:ext cx="3657600" cy="9244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9CA3AF"/>
                </a:solidFill>
                <a:latin typeface="Open Sans"/>
              </a:rPr>
              <a:t>Sin sprints trabajados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5563209"/>
            <a:ext cx="3657600" cy="924458"/>
          </a:xfrm>
          <a:prstGeom prst="roundRect">
            <a:avLst>
              <a:gd name="adj" fmla="val 118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5563209"/>
            <a:ext cx="3657600" cy="9244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9CA3AF"/>
                </a:solidFill>
                <a:latin typeface="Open Sans"/>
              </a:rPr>
              <a:t>Sin sprints trabajados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7680" y="940231"/>
            <a:ext cx="4602480" cy="2102319"/>
          </a:xfrm>
          <a:prstGeom prst="roundRect">
            <a:avLst>
              <a:gd name="adj" fmla="val 521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176" y="1049959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QUÉ HACE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176" y="1226896"/>
            <a:ext cx="4285488" cy="5404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111827"/>
                </a:solidFill>
                <a:latin typeface="Open Sans"/>
              </a:rPr>
              <a:t>Extiende el motor de prospección al mercado español: detección de vacantes en portales de empleo de España y calificación de vacantes y empresas con los criterios aplicados en Estados Unidos.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76" y="2788805"/>
            <a:ext cx="4285488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4B5563"/>
                </a:solidFill>
                <a:latin typeface="Poppins"/>
              </a:rPr>
              <a:t>Corre en  </a:t>
            </a:r>
            <a:r>
              <a:rPr sz="810" b="0">
                <a:solidFill>
                  <a:srgbClr val="9CA3AF"/>
                </a:solidFill>
                <a:latin typeface="Open Sans"/>
              </a:rPr>
              <a:t>Se define en la POC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12080" y="940231"/>
            <a:ext cx="3657600" cy="2102319"/>
          </a:xfrm>
          <a:prstGeom prst="roundRect">
            <a:avLst>
              <a:gd name="adj" fmla="val 5219"/>
            </a:avLst>
          </a:prstGeom>
          <a:solidFill>
            <a:srgbClr val="5A4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70576" y="1049959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DAD5F2"/>
                </a:solidFill>
                <a:latin typeface="Poppins"/>
              </a:rPr>
              <a:t>VALOR PARA EL NEGOCIO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0576" y="1226896"/>
            <a:ext cx="3340608" cy="394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Poppins"/>
              </a:rPr>
              <a:t>Expansión a un nuevo mercado sobre la operación existente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0576" y="1682953"/>
            <a:ext cx="3340608" cy="502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928" b="0">
                <a:solidFill>
                  <a:srgbClr val="E4E0F6"/>
                </a:solidFill>
                <a:latin typeface="Open Sans"/>
              </a:rPr>
              <a:t>Incorpora España como fuente de señales de contratación reutilizando la calificación, el descubrimiento de decisores y el contacto en frío ya operativos para Estados Unidos.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91600" y="940231"/>
            <a:ext cx="2712719" cy="2102319"/>
          </a:xfrm>
          <a:prstGeom prst="roundRect">
            <a:avLst>
              <a:gd name="adj" fmla="val 521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50096" y="1049959"/>
            <a:ext cx="255422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ESTATUS ACTUAL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50096" y="1226896"/>
            <a:ext cx="1013088" cy="16870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16961" y="1226896"/>
            <a:ext cx="946223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631" b="1">
                <a:solidFill>
                  <a:srgbClr val="775AE5"/>
                </a:solidFill>
                <a:latin typeface="Consolas"/>
              </a:rPr>
              <a:t>PLAN </a:t>
            </a:r>
            <a:r>
              <a:rPr sz="702" b="1">
                <a:solidFill>
                  <a:srgbClr val="775AE5"/>
                </a:solidFill>
                <a:latin typeface="Poppins"/>
              </a:rPr>
              <a:t>MVP · sprint 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0096" y="1471041"/>
            <a:ext cx="2395727" cy="482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891" b="0">
                <a:solidFill>
                  <a:srgbClr val="4B5563"/>
                </a:solidFill>
                <a:latin typeface="Open Sans"/>
              </a:rPr>
              <a:t>En planificación. Se retiró del alcance del sprint 21; el MVP se proyecta para el sprint 22.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7680" y="3131705"/>
            <a:ext cx="4602480" cy="2102319"/>
          </a:xfrm>
          <a:prstGeom prst="roundRect">
            <a:avLst>
              <a:gd name="adj" fmla="val 521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176" y="3241433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CONEXIONES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176" y="3425228"/>
            <a:ext cx="1457065" cy="4499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Company Decision Maker · Email Cold Outreach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00777" y="3425228"/>
            <a:ext cx="2730886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procesan sus empresas con el mismo flujo de Estados Unidos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176" y="3957477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Solvo Platform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00777" y="3957477"/>
            <a:ext cx="2730886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presenta sus empresas y vacantes al equipo comercial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3131705"/>
            <a:ext cx="2712719" cy="2102319"/>
          </a:xfrm>
          <a:prstGeom prst="roundRect">
            <a:avLst>
              <a:gd name="adj" fmla="val 521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0576" y="3241433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APIS EXTERNAS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70576" y="3425228"/>
            <a:ext cx="695030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70576" y="3425228"/>
            <a:ext cx="695030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Por definir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50950" y="3462089"/>
            <a:ext cx="1615353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se eligen en la POC de factibilidad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3131705"/>
            <a:ext cx="3657600" cy="2102319"/>
          </a:xfrm>
          <a:prstGeom prst="roundRect">
            <a:avLst>
              <a:gd name="adj" fmla="val 521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05216" y="3241433"/>
            <a:ext cx="349910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ÉPICAS</a:t>
            </a:r>
          </a:p>
        </p:txBody>
      </p:sp>
      <p:sp>
        <p:nvSpPr>
          <p:cNvPr id="49" name="TextBox 48">
            <a:hlinkClick r:id="rId2"/>
          </p:cNvPr>
          <p:cNvSpPr txBox="1"/>
          <p:nvPr/>
        </p:nvSpPr>
        <p:spPr>
          <a:xfrm>
            <a:off x="8205216" y="3425228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Prospect Engine España — MVP (factibilidad del scraping en España)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33760" y="3425228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#97124</a:t>
            </a:r>
          </a:p>
        </p:txBody>
      </p:sp>
      <p:pic>
        <p:nvPicPr>
          <p:cNvPr id="51" name="Picture 50" descr="SolvoGenAI_Icon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6580593"/>
            <a:ext cx="150876" cy="15087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36092" y="6591223"/>
            <a:ext cx="11065764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29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MAPA DE COMPONENTES · 10/12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506" y="480060"/>
            <a:ext cx="659933" cy="172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72"/>
              </a:lnSpc>
              <a:spcBef>
                <a:spcPts val="0"/>
              </a:spcBef>
              <a:spcAft>
                <a:spcPts val="0"/>
              </a:spcAft>
            </a:pPr>
            <a:r>
              <a:rPr sz="972" b="1" spc="194">
                <a:solidFill>
                  <a:srgbClr val="DAD5F2"/>
                </a:solidFill>
                <a:latin typeface="Poppins"/>
              </a:rPr>
              <a:t>02 /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975360" y="2683002"/>
            <a:ext cx="480060" cy="38100"/>
          </a:xfrm>
          <a:prstGeom prst="rect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60" y="2940558"/>
            <a:ext cx="6759244" cy="5431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76"/>
              </a:lnSpc>
              <a:spcBef>
                <a:spcPts val="0"/>
              </a:spcBef>
              <a:spcAft>
                <a:spcPts val="0"/>
              </a:spcAft>
            </a:pPr>
            <a:r>
              <a:rPr sz="3888" b="1">
                <a:solidFill>
                  <a:srgbClr val="FFFFFF"/>
                </a:solidFill>
                <a:latin typeface="Poppins"/>
              </a:rPr>
              <a:t>Solvo Recruiter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3675735"/>
            <a:ext cx="6759244" cy="499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04" b="0">
                <a:solidFill>
                  <a:srgbClr val="E4E0F6"/>
                </a:solidFill>
                <a:latin typeface="Open Sans"/>
              </a:rPr>
              <a:t>Construcción del pool de candidatos open-to-work y aplicación de búsqueda y contacto para el equipo de reclutamiento.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41665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9256" y="288036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SOLVO RECRUITER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506120"/>
            <a:ext cx="11216640" cy="331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11827"/>
                </a:solidFill>
                <a:latin typeface="Poppins"/>
              </a:rPr>
              <a:t>Talent Pool Scraping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67678" y="579843"/>
            <a:ext cx="770659" cy="183794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67678" y="579843"/>
            <a:ext cx="770659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4B5563"/>
                </a:solidFill>
                <a:latin typeface="Consolas"/>
              </a:rPr>
              <a:t>Pipeline n8n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5199735"/>
            <a:ext cx="11216640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SPRINTS TRABAJADOS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3461" y="518190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33461" y="518190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3363" y="518190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3363" y="518190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3265" y="518190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3265" y="518190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3167" y="518190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3167" y="518190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33069" y="518190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3069" y="518190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2971" y="518190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2971" y="518190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2873" y="518190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2873" y="518190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2775" y="518190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2775" y="518190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S19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2677" y="518190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2677" y="518190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32579" y="5181904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2579" y="5181904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7680" y="5415076"/>
            <a:ext cx="3657600" cy="1072591"/>
          </a:xfrm>
          <a:prstGeom prst="roundRect">
            <a:avLst>
              <a:gd name="adj" fmla="val 102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0380" y="5491886"/>
            <a:ext cx="38100" cy="918972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176" y="5513832"/>
            <a:ext cx="640588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1308" y="5548121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14–25 sep</a:t>
            </a:r>
          </a:p>
        </p:txBody>
      </p:sp>
      <p:sp>
        <p:nvSpPr>
          <p:cNvPr id="32" name="Oval 31"/>
          <p:cNvSpPr/>
          <p:nvPr/>
        </p:nvSpPr>
        <p:spPr>
          <a:xfrm>
            <a:off x="646176" y="5808725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188" y="5753861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Flujo único de búsqueda para la ejecución programada y para AI Search</a:t>
            </a:r>
          </a:p>
        </p:txBody>
      </p:sp>
      <p:sp>
        <p:nvSpPr>
          <p:cNvPr id="34" name="Oval 33"/>
          <p:cNvSpPr/>
          <p:nvPr/>
        </p:nvSpPr>
        <p:spPr>
          <a:xfrm>
            <a:off x="646176" y="6142710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2188" y="6087846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Ejecución programada según la frecuencia y la cobertura configuradas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67200" y="5415076"/>
            <a:ext cx="3657600" cy="1072591"/>
          </a:xfrm>
          <a:prstGeom prst="roundRect">
            <a:avLst>
              <a:gd name="adj" fmla="val 102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79900" y="5491886"/>
            <a:ext cx="38100" cy="918972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25696" y="5513832"/>
            <a:ext cx="672413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32653" y="5548121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28 sep–9 oct</a:t>
            </a:r>
          </a:p>
        </p:txBody>
      </p:sp>
      <p:sp>
        <p:nvSpPr>
          <p:cNvPr id="40" name="Oval 39"/>
          <p:cNvSpPr/>
          <p:nvPr/>
        </p:nvSpPr>
        <p:spPr>
          <a:xfrm>
            <a:off x="4425696" y="5808725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1708" y="5753861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Re-validación de la disponibilidad de los candidatos en cada ejecución</a:t>
            </a:r>
          </a:p>
        </p:txBody>
      </p:sp>
      <p:sp>
        <p:nvSpPr>
          <p:cNvPr id="42" name="Oval 41"/>
          <p:cNvSpPr/>
          <p:nvPr/>
        </p:nvSpPr>
        <p:spPr>
          <a:xfrm>
            <a:off x="4425696" y="6142710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1708" y="6087846"/>
            <a:ext cx="238714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Captura ampliada del perfil del candidato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82006" y="6099998"/>
            <a:ext cx="784297" cy="12382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B9C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82006" y="6099998"/>
            <a:ext cx="784297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1D4ED8"/>
                </a:solidFill>
                <a:latin typeface="Poppins"/>
              </a:rPr>
              <a:t>FIX DE CALIDAD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5415076"/>
            <a:ext cx="3657600" cy="1072591"/>
          </a:xfrm>
          <a:prstGeom prst="roundRect">
            <a:avLst>
              <a:gd name="adj" fmla="val 10230"/>
            </a:avLst>
          </a:prstGeom>
          <a:solidFill>
            <a:srgbClr val="F7F4FF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59420" y="5491886"/>
            <a:ext cx="38100" cy="918972"/>
          </a:xfrm>
          <a:prstGeom prst="rect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05216" y="5513832"/>
            <a:ext cx="634544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74304" y="5548121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13–24 oct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106091" y="5520690"/>
            <a:ext cx="439732" cy="152247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F1ED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62669" y="5520690"/>
            <a:ext cx="383154" cy="152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594"/>
              </a:lnSpc>
              <a:spcBef>
                <a:spcPts val="0"/>
              </a:spcBef>
              <a:spcAft>
                <a:spcPts val="0"/>
              </a:spcAft>
            </a:pPr>
            <a:r>
              <a:rPr sz="594" b="1">
                <a:solidFill>
                  <a:srgbClr val="775AE5"/>
                </a:solidFill>
                <a:latin typeface="Poppins"/>
              </a:rPr>
              <a:t>En curso</a:t>
            </a:r>
          </a:p>
        </p:txBody>
      </p:sp>
      <p:sp>
        <p:nvSpPr>
          <p:cNvPr id="52" name="Oval 51"/>
          <p:cNvSpPr/>
          <p:nvPr/>
        </p:nvSpPr>
        <p:spPr>
          <a:xfrm>
            <a:off x="8205216" y="5808725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01228" y="5753861"/>
            <a:ext cx="238714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Perfil de búsqueda asignado a cada candidato nuevo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61526" y="5766014"/>
            <a:ext cx="784297" cy="12382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B9C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61526" y="5766014"/>
            <a:ext cx="784297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1D4ED8"/>
                </a:solidFill>
                <a:latin typeface="Poppins"/>
              </a:rPr>
              <a:t>FIX DE CALIDAD</a:t>
            </a:r>
          </a:p>
        </p:txBody>
      </p:sp>
      <p:sp>
        <p:nvSpPr>
          <p:cNvPr id="56" name="Oval 55"/>
          <p:cNvSpPr/>
          <p:nvPr/>
        </p:nvSpPr>
        <p:spPr>
          <a:xfrm>
            <a:off x="8205216" y="6142710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01228" y="6087846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Reporte de cada ejecución solo con los candidatos nuevos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7680" y="940231"/>
            <a:ext cx="4602480" cy="2028253"/>
          </a:xfrm>
          <a:prstGeom prst="roundRect">
            <a:avLst>
              <a:gd name="adj" fmla="val 540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6176" y="1049959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QUÉ HACE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6176" y="1226896"/>
            <a:ext cx="4285488" cy="5404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111827"/>
                </a:solidFill>
                <a:latin typeface="Open Sans"/>
              </a:rPr>
              <a:t>Identifica en LinkedIn candidatos con disponibilidad laboral (open-to-work) según los perfiles de búsqueda configurados y mantiene actualizado el pool de talento.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6176" y="2714739"/>
            <a:ext cx="4285488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4B5563"/>
                </a:solidFill>
                <a:latin typeface="Poppins"/>
              </a:rPr>
              <a:t>Corre en  </a:t>
            </a:r>
            <a:r>
              <a:rPr sz="810" b="0">
                <a:solidFill>
                  <a:srgbClr val="9CA3AF"/>
                </a:solidFill>
                <a:latin typeface="Open Sans"/>
              </a:rPr>
              <a:t>n8n · VM dedicada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212080" y="940231"/>
            <a:ext cx="3657600" cy="2028253"/>
          </a:xfrm>
          <a:prstGeom prst="roundRect">
            <a:avLst>
              <a:gd name="adj" fmla="val 5409"/>
            </a:avLst>
          </a:prstGeom>
          <a:solidFill>
            <a:srgbClr val="5A4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70576" y="1049959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DAD5F2"/>
                </a:solidFill>
                <a:latin typeface="Poppins"/>
              </a:rPr>
              <a:t>VALOR PARA EL NEGOCIO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70576" y="1226896"/>
            <a:ext cx="3340608" cy="394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Poppins"/>
              </a:rPr>
              <a:t>Disponibilidad permanente de talento actualizado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70576" y="1682953"/>
            <a:ext cx="3340608" cy="502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928" b="0">
                <a:solidFill>
                  <a:srgbClr val="E4E0F6"/>
                </a:solidFill>
                <a:latin typeface="Open Sans"/>
              </a:rPr>
              <a:t>Mantiene un pool de candidatos en búsqueda activa de empleo, actualizado de forma automática, que elimina la búsqueda manual en LinkedIn.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91600" y="940231"/>
            <a:ext cx="2712719" cy="2028253"/>
          </a:xfrm>
          <a:prstGeom prst="roundRect">
            <a:avLst>
              <a:gd name="adj" fmla="val 540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50096" y="1049959"/>
            <a:ext cx="255422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ESTATUS ACTUAL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50096" y="1226896"/>
            <a:ext cx="783587" cy="16870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A7DD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16961" y="1226896"/>
            <a:ext cx="716721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631" b="1">
                <a:solidFill>
                  <a:srgbClr val="166534"/>
                </a:solidFill>
                <a:latin typeface="Consolas"/>
              </a:rPr>
              <a:t>PROD </a:t>
            </a:r>
            <a:r>
              <a:rPr sz="702" b="1">
                <a:solidFill>
                  <a:srgbClr val="166534"/>
                </a:solidFill>
                <a:latin typeface="Poppins"/>
              </a:rPr>
              <a:t>Release 2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982451" y="1226896"/>
            <a:ext cx="1318002" cy="168706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3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49316" y="1226896"/>
            <a:ext cx="1251137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B91C1C"/>
                </a:solidFill>
                <a:latin typeface="Poppins"/>
              </a:rPr>
              <a:t>! Desactivación acordada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50096" y="1471041"/>
            <a:ext cx="2395727" cy="8034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891" b="0">
                <a:solidFill>
                  <a:srgbClr val="4B5563"/>
                </a:solidFill>
                <a:latin typeface="Open Sans"/>
              </a:rPr>
              <a:t>Release 2 en producción. Según lo acordado recientemente con stakeholders y usuarios, este flujo se desactivará para priorizar la búsqueda asistida con IA (AI Search) desde Solvo Recruiter Platform.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87680" y="3057639"/>
            <a:ext cx="4602480" cy="2028253"/>
          </a:xfrm>
          <a:prstGeom prst="roundRect">
            <a:avLst>
              <a:gd name="adj" fmla="val 540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6176" y="3167367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CONEXIONES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6176" y="3351161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Solvo Recruiter Platform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00777" y="3351161"/>
            <a:ext cx="2730886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provee la configuración; consulta el pool de candidatos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6176" y="3733426"/>
            <a:ext cx="1457065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Email Cold Outreach · Landing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00777" y="3733426"/>
            <a:ext cx="2730886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utilizan sus perfiles de búsqueda en el showcase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212080" y="3057639"/>
            <a:ext cx="2712719" cy="2028253"/>
          </a:xfrm>
          <a:prstGeom prst="roundRect">
            <a:avLst>
              <a:gd name="adj" fmla="val 540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70576" y="3167367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APIS EXTERNAS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370576" y="3351161"/>
            <a:ext cx="424499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70576" y="3351161"/>
            <a:ext cx="424499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Apify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80419" y="3351161"/>
            <a:ext cx="188588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búsqueda de perfiles y captura de correo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370576" y="3678288"/>
            <a:ext cx="758394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70576" y="3678288"/>
            <a:ext cx="758394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Bright Data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14314" y="3715150"/>
            <a:ext cx="1551989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detalle del perfil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370576" y="3949865"/>
            <a:ext cx="539717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70576" y="3949865"/>
            <a:ext cx="539717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OpenAI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95637" y="3986726"/>
            <a:ext cx="1770666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análisis del perfil y disponibilidad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370576" y="4221441"/>
            <a:ext cx="485837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70576" y="4221441"/>
            <a:ext cx="485837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Apollo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1757" y="4258303"/>
            <a:ext cx="1824546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datos de contacto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370576" y="4493018"/>
            <a:ext cx="452436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70576" y="4493018"/>
            <a:ext cx="452436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Brevo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08356" y="4529880"/>
            <a:ext cx="1857947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reporte de la ejecución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046720" y="3057639"/>
            <a:ext cx="3657600" cy="2028253"/>
          </a:xfrm>
          <a:prstGeom prst="roundRect">
            <a:avLst>
              <a:gd name="adj" fmla="val 5409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205216" y="3167367"/>
            <a:ext cx="349910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ÉPICAS</a:t>
            </a:r>
          </a:p>
        </p:txBody>
      </p:sp>
      <p:sp>
        <p:nvSpPr>
          <p:cNvPr id="98" name="TextBox 97">
            <a:hlinkClick r:id="rId2"/>
          </p:cNvPr>
          <p:cNvSpPr txBox="1"/>
          <p:nvPr/>
        </p:nvSpPr>
        <p:spPr>
          <a:xfrm>
            <a:off x="8205216" y="3351161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Talent Pool Scraping — PoC (factibilidad open-to-work en LinkedIn)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033760" y="3351161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#88723</a:t>
            </a:r>
          </a:p>
        </p:txBody>
      </p:sp>
      <p:sp>
        <p:nvSpPr>
          <p:cNvPr id="100" name="TextBox 99">
            <a:hlinkClick r:id="rId3"/>
          </p:cNvPr>
          <p:cNvSpPr txBox="1"/>
          <p:nvPr/>
        </p:nvSpPr>
        <p:spPr>
          <a:xfrm>
            <a:off x="8205216" y="3661143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Talent Pool Scraping — MVP (ejecución semanal con CSV por correo)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033760" y="3661143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#89475</a:t>
            </a:r>
          </a:p>
        </p:txBody>
      </p:sp>
      <p:sp>
        <p:nvSpPr>
          <p:cNvPr id="102" name="TextBox 101">
            <a:hlinkClick r:id="rId4"/>
          </p:cNvPr>
          <p:cNvSpPr txBox="1"/>
          <p:nvPr/>
        </p:nvSpPr>
        <p:spPr>
          <a:xfrm>
            <a:off x="8205216" y="3971124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Talent Pool Scraping — Release 2 (pool de candidatos en producción)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033760" y="3971124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#90042</a:t>
            </a:r>
          </a:p>
        </p:txBody>
      </p:sp>
      <p:pic>
        <p:nvPicPr>
          <p:cNvPr id="104" name="Picture 103" descr="SolvoGenAI_Icon_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" y="6580593"/>
            <a:ext cx="150876" cy="150876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736092" y="6591223"/>
            <a:ext cx="11065764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29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MAPA DE COMPONENTES · 11/12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41665"/>
            <a:ext cx="178308" cy="25400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9256" y="288036"/>
            <a:ext cx="9969703" cy="1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8"/>
              </a:lnSpc>
              <a:spcBef>
                <a:spcPts val="0"/>
              </a:spcBef>
              <a:spcAft>
                <a:spcPts val="0"/>
              </a:spcAft>
            </a:pPr>
            <a:r>
              <a:rPr sz="918" b="1" spc="239">
                <a:solidFill>
                  <a:srgbClr val="E07E3A"/>
                </a:solidFill>
                <a:latin typeface="Poppins"/>
              </a:rPr>
              <a:t>SOLVO RECRUITER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506120"/>
            <a:ext cx="11216640" cy="331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11827"/>
                </a:solidFill>
                <a:latin typeface="Poppins"/>
              </a:rPr>
              <a:t>Solvo Recruiter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17736" y="579843"/>
            <a:ext cx="929033" cy="183794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17736" y="579843"/>
            <a:ext cx="929033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56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4B5563"/>
                </a:solidFill>
                <a:latin typeface="Consolas"/>
              </a:rPr>
              <a:t>App web interna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5162016"/>
            <a:ext cx="11216640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SPRINTS TRABAJADOS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3461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33461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3363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3363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3265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3265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3167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3167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33069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3069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2971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2971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S18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2873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2873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S19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2775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2775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2677" y="5144185"/>
            <a:ext cx="251134" cy="150876"/>
          </a:xfrm>
          <a:prstGeom prst="roundRect">
            <a:avLst>
              <a:gd name="adj" fmla="val 50000"/>
            </a:avLst>
          </a:prstGeom>
          <a:solidFill>
            <a:srgbClr val="FEF3EC"/>
          </a:solidFill>
          <a:ln w="12700">
            <a:solidFill>
              <a:srgbClr val="EFB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2677" y="5144185"/>
            <a:ext cx="251134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E07E3A"/>
                </a:solidFill>
                <a:latin typeface="Consolas"/>
              </a:rPr>
              <a:t>S21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7680" y="5377357"/>
            <a:ext cx="3657600" cy="1110310"/>
          </a:xfrm>
          <a:prstGeom prst="roundRect">
            <a:avLst>
              <a:gd name="adj" fmla="val 988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0380" y="5454167"/>
            <a:ext cx="38100" cy="956691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176" y="5476113"/>
            <a:ext cx="640588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1308" y="5510403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14–25 sep</a:t>
            </a:r>
          </a:p>
        </p:txBody>
      </p:sp>
      <p:sp>
        <p:nvSpPr>
          <p:cNvPr id="30" name="Oval 29"/>
          <p:cNvSpPr/>
          <p:nvPr/>
        </p:nvSpPr>
        <p:spPr>
          <a:xfrm>
            <a:off x="646176" y="5771007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2188" y="5716143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Configuración e infraestructura de producción validadas</a:t>
            </a:r>
          </a:p>
        </p:txBody>
      </p:sp>
      <p:sp>
        <p:nvSpPr>
          <p:cNvPr id="32" name="Oval 31"/>
          <p:cNvSpPr/>
          <p:nvPr/>
        </p:nvSpPr>
        <p:spPr>
          <a:xfrm>
            <a:off x="646176" y="5956858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188" y="5901994"/>
            <a:ext cx="2885959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Búsqueda resuelta sobre la tabla anterior de perfiles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1299" y="5914147"/>
            <a:ext cx="285484" cy="12382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3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1299" y="5914147"/>
            <a:ext cx="285484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B91C1C"/>
                </a:solidFill>
                <a:latin typeface="Poppins"/>
              </a:rPr>
              <a:t>BUG</a:t>
            </a:r>
          </a:p>
        </p:txBody>
      </p:sp>
      <p:sp>
        <p:nvSpPr>
          <p:cNvPr id="36" name="Oval 35"/>
          <p:cNvSpPr/>
          <p:nvPr/>
        </p:nvSpPr>
        <p:spPr>
          <a:xfrm>
            <a:off x="646176" y="6142710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2188" y="6087846"/>
            <a:ext cx="2885959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Defectos de UI y datos en la búsqueda de candidatos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01299" y="6099998"/>
            <a:ext cx="285484" cy="12382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3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01299" y="6099998"/>
            <a:ext cx="285484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B91C1C"/>
                </a:solidFill>
                <a:latin typeface="Poppins"/>
              </a:rPr>
              <a:t>BUG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67200" y="5377357"/>
            <a:ext cx="3657600" cy="1110310"/>
          </a:xfrm>
          <a:prstGeom prst="roundRect">
            <a:avLst>
              <a:gd name="adj" fmla="val 988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79900" y="5454167"/>
            <a:ext cx="38100" cy="956691"/>
          </a:xfrm>
          <a:prstGeom prst="rect">
            <a:avLst/>
          </a:prstGeom>
          <a:solidFill>
            <a:srgbClr val="E07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25696" y="5476113"/>
            <a:ext cx="672413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32653" y="5510403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28 sep–9 oct</a:t>
            </a:r>
          </a:p>
        </p:txBody>
      </p:sp>
      <p:sp>
        <p:nvSpPr>
          <p:cNvPr id="44" name="Oval 43"/>
          <p:cNvSpPr/>
          <p:nvPr/>
        </p:nvSpPr>
        <p:spPr>
          <a:xfrm>
            <a:off x="4425696" y="5771007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1708" y="5716143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Administración de perfiles de búsqueda y parámetros</a:t>
            </a:r>
          </a:p>
        </p:txBody>
      </p:sp>
      <p:sp>
        <p:nvSpPr>
          <p:cNvPr id="46" name="Oval 45"/>
          <p:cNvSpPr/>
          <p:nvPr/>
        </p:nvSpPr>
        <p:spPr>
          <a:xfrm>
            <a:off x="4425696" y="5956858"/>
            <a:ext cx="41148" cy="41148"/>
          </a:xfrm>
          <a:prstGeom prst="ellipse">
            <a:avLst/>
          </a:prstGeom>
          <a:solidFill>
            <a:srgbClr val="F19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21708" y="5901994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Búsqueda de candidatos con AI Search y panel de detalle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5377357"/>
            <a:ext cx="3657600" cy="1110310"/>
          </a:xfrm>
          <a:prstGeom prst="roundRect">
            <a:avLst>
              <a:gd name="adj" fmla="val 9882"/>
            </a:avLst>
          </a:prstGeom>
          <a:solidFill>
            <a:srgbClr val="F7F4FF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59420" y="5454167"/>
            <a:ext cx="38100" cy="956691"/>
          </a:xfrm>
          <a:prstGeom prst="rect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05216" y="5476113"/>
            <a:ext cx="634544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11827"/>
                </a:solidFill>
                <a:latin typeface="Poppins"/>
              </a:rPr>
              <a:t>Sprint 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74304" y="5510403"/>
            <a:ext cx="1463039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9CA3AF"/>
                </a:solidFill>
                <a:latin typeface="Consolas"/>
              </a:rPr>
              <a:t>13–24 oct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106091" y="5482971"/>
            <a:ext cx="439732" cy="152247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F1ED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62669" y="5482971"/>
            <a:ext cx="383154" cy="152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594"/>
              </a:lnSpc>
              <a:spcBef>
                <a:spcPts val="0"/>
              </a:spcBef>
              <a:spcAft>
                <a:spcPts val="0"/>
              </a:spcAft>
            </a:pPr>
            <a:r>
              <a:rPr sz="594" b="1">
                <a:solidFill>
                  <a:srgbClr val="775AE5"/>
                </a:solidFill>
                <a:latin typeface="Poppins"/>
              </a:rPr>
              <a:t>En curso</a:t>
            </a:r>
          </a:p>
        </p:txBody>
      </p:sp>
      <p:sp>
        <p:nvSpPr>
          <p:cNvPr id="54" name="Oval 53"/>
          <p:cNvSpPr/>
          <p:nvPr/>
        </p:nvSpPr>
        <p:spPr>
          <a:xfrm>
            <a:off x="8205216" y="5771007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01228" y="5716143"/>
            <a:ext cx="3244596" cy="29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Exportación de candidatos con el formato del reporte de la ejecución</a:t>
            </a:r>
          </a:p>
        </p:txBody>
      </p:sp>
      <p:sp>
        <p:nvSpPr>
          <p:cNvPr id="56" name="Oval 55"/>
          <p:cNvSpPr/>
          <p:nvPr/>
        </p:nvSpPr>
        <p:spPr>
          <a:xfrm>
            <a:off x="8205216" y="6104991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01228" y="6050127"/>
            <a:ext cx="3244596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Configuración limitada a la frecuencia de búsqueda</a:t>
            </a:r>
          </a:p>
        </p:txBody>
      </p:sp>
      <p:sp>
        <p:nvSpPr>
          <p:cNvPr id="58" name="Oval 57"/>
          <p:cNvSpPr/>
          <p:nvPr/>
        </p:nvSpPr>
        <p:spPr>
          <a:xfrm>
            <a:off x="8205216" y="6290843"/>
            <a:ext cx="41148" cy="41148"/>
          </a:xfrm>
          <a:prstGeom prst="ellipse">
            <a:avLst/>
          </a:prstGeom>
          <a:solidFill>
            <a:srgbClr val="775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01228" y="6235979"/>
            <a:ext cx="2885959" cy="148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4B5563"/>
                </a:solidFill>
                <a:latin typeface="Open Sans"/>
              </a:rPr>
              <a:t>Error 502 al buscar desde AI Search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260339" y="6248131"/>
            <a:ext cx="285484" cy="12382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3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260339" y="6248131"/>
            <a:ext cx="285484" cy="123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587"/>
              </a:lnSpc>
              <a:spcBef>
                <a:spcPts val="0"/>
              </a:spcBef>
              <a:spcAft>
                <a:spcPts val="0"/>
              </a:spcAft>
            </a:pPr>
            <a:r>
              <a:rPr sz="587" b="1" spc="59">
                <a:solidFill>
                  <a:srgbClr val="B91C1C"/>
                </a:solidFill>
                <a:latin typeface="Poppins"/>
              </a:rPr>
              <a:t>BUG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87680" y="940231"/>
            <a:ext cx="4602480" cy="2009394"/>
          </a:xfrm>
          <a:prstGeom prst="roundRect">
            <a:avLst>
              <a:gd name="adj" fmla="val 546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6176" y="1049959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QUÉ HACE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6176" y="1226896"/>
            <a:ext cx="4285488" cy="5404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8"/>
              </a:lnSpc>
              <a:spcBef>
                <a:spcPts val="0"/>
              </a:spcBef>
              <a:spcAft>
                <a:spcPts val="0"/>
              </a:spcAft>
            </a:pPr>
            <a:r>
              <a:rPr sz="999" b="0">
                <a:solidFill>
                  <a:srgbClr val="111827"/>
                </a:solidFill>
                <a:latin typeface="Open Sans"/>
              </a:rPr>
              <a:t>Aplicación web del equipo de reclutamiento para configurar las búsquedas del pipeline, consultar y contactar candidatos y gestionar su seguimiento.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6176" y="2695879"/>
            <a:ext cx="4285488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4B5563"/>
                </a:solidFill>
                <a:latin typeface="Poppins"/>
              </a:rPr>
              <a:t>Corre en  </a:t>
            </a:r>
            <a:r>
              <a:rPr sz="810" b="0">
                <a:solidFill>
                  <a:srgbClr val="9CA3AF"/>
                </a:solidFill>
                <a:latin typeface="Open Sans"/>
              </a:rPr>
              <a:t>Container App + Static Web App · SSO Entra ID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212080" y="940231"/>
            <a:ext cx="3657600" cy="2009394"/>
          </a:xfrm>
          <a:prstGeom prst="roundRect">
            <a:avLst>
              <a:gd name="adj" fmla="val 5460"/>
            </a:avLst>
          </a:prstGeom>
          <a:solidFill>
            <a:srgbClr val="5A4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70576" y="1049959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DAD5F2"/>
                </a:solidFill>
                <a:latin typeface="Poppins"/>
              </a:rPr>
              <a:t>VALOR PARA EL NEGOCIO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70576" y="1226896"/>
            <a:ext cx="3340608" cy="394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Poppins"/>
              </a:rPr>
              <a:t>Autonomía operativa del equipo de reclutamiento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70576" y="1682953"/>
            <a:ext cx="3340608" cy="669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8"/>
              </a:lnSpc>
              <a:spcBef>
                <a:spcPts val="0"/>
              </a:spcBef>
              <a:spcAft>
                <a:spcPts val="0"/>
              </a:spcAft>
            </a:pPr>
            <a:r>
              <a:rPr sz="928" b="0">
                <a:solidFill>
                  <a:srgbClr val="E4E0F6"/>
                </a:solidFill>
                <a:latin typeface="Open Sans"/>
              </a:rPr>
              <a:t>Permite buscar, filtrar y contactar candidatos sin intervención del equipo técnico. AI Search ejecuta búsquedas de perfiles nuevos con estimación de costo previa.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91600" y="940231"/>
            <a:ext cx="2712719" cy="2009394"/>
          </a:xfrm>
          <a:prstGeom prst="roundRect">
            <a:avLst>
              <a:gd name="adj" fmla="val 546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50096" y="1049959"/>
            <a:ext cx="255422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ESTATUS ACTUAL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50096" y="1226896"/>
            <a:ext cx="695349" cy="16870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6C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16961" y="1226896"/>
            <a:ext cx="628484" cy="168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02"/>
              </a:lnSpc>
              <a:spcBef>
                <a:spcPts val="0"/>
              </a:spcBef>
              <a:spcAft>
                <a:spcPts val="0"/>
              </a:spcAft>
            </a:pPr>
            <a:r>
              <a:rPr sz="631" b="1">
                <a:solidFill>
                  <a:srgbClr val="92400E"/>
                </a:solidFill>
                <a:latin typeface="Consolas"/>
              </a:rPr>
              <a:t>QA </a:t>
            </a:r>
            <a:r>
              <a:rPr sz="702" b="1">
                <a:solidFill>
                  <a:srgbClr val="92400E"/>
                </a:solidFill>
                <a:latin typeface="Poppins"/>
              </a:rPr>
              <a:t>Release 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50096" y="1471041"/>
            <a:ext cx="2395727" cy="3213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891" b="0">
                <a:solidFill>
                  <a:srgbClr val="4B5563"/>
                </a:solidFill>
                <a:latin typeface="Open Sans"/>
              </a:rPr>
              <a:t>MVP y Release 2 en QA, con salida a producción proyectada para el sprint 21.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87680" y="3038779"/>
            <a:ext cx="4602480" cy="2009394"/>
          </a:xfrm>
          <a:prstGeom prst="roundRect">
            <a:avLst>
              <a:gd name="adj" fmla="val 546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176" y="3148507"/>
            <a:ext cx="110581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CONEXIONES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6176" y="3332302"/>
            <a:ext cx="1457065" cy="149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111827"/>
                </a:solidFill>
                <a:latin typeface="Poppins"/>
              </a:rPr>
              <a:t>Talent Pool Scraping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00777" y="3332302"/>
            <a:ext cx="2730886" cy="29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4B5563"/>
                </a:solidFill>
                <a:latin typeface="Open Sans"/>
              </a:rPr>
              <a:t>define su configuración, consulta el pool y ejecuta AI Search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212080" y="3038779"/>
            <a:ext cx="2712719" cy="2009394"/>
          </a:xfrm>
          <a:prstGeom prst="roundRect">
            <a:avLst>
              <a:gd name="adj" fmla="val 546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70576" y="3148507"/>
            <a:ext cx="633374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APIS EXTERNAS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370576" y="3332302"/>
            <a:ext cx="1095761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70576" y="3332302"/>
            <a:ext cx="1095761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Microsoft Entra 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51681" y="3369163"/>
            <a:ext cx="1214622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SSO y roles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370576" y="3603879"/>
            <a:ext cx="452436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70576" y="3603879"/>
            <a:ext cx="452436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Brevo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08356" y="3640740"/>
            <a:ext cx="1857947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outreach a candidatos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370576" y="3875455"/>
            <a:ext cx="539717" cy="202996"/>
          </a:xfrm>
          <a:prstGeom prst="roundRect">
            <a:avLst>
              <a:gd name="adj" fmla="val 50000"/>
            </a:avLst>
          </a:prstGeom>
          <a:solidFill>
            <a:srgbClr val="F1EDFD"/>
          </a:solidFill>
          <a:ln w="12700">
            <a:solidFill>
              <a:srgbClr val="CFC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70576" y="3875455"/>
            <a:ext cx="539717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37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75AE5"/>
                </a:solidFill>
                <a:latin typeface="Poppins"/>
              </a:rPr>
              <a:t>OpenAI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95637" y="3875455"/>
            <a:ext cx="1770666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4B5563"/>
                </a:solidFill>
                <a:latin typeface="Open Sans"/>
              </a:rPr>
              <a:t>construcción de la búsqueda en AI Search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046720" y="3038779"/>
            <a:ext cx="3657600" cy="2009394"/>
          </a:xfrm>
          <a:prstGeom prst="roundRect">
            <a:avLst>
              <a:gd name="adj" fmla="val 546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05216" y="3148507"/>
            <a:ext cx="3499104" cy="11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</a:pPr>
            <a:r>
              <a:rPr sz="648" b="1" spc="130">
                <a:solidFill>
                  <a:srgbClr val="9CA3AF"/>
                </a:solidFill>
                <a:latin typeface="Poppins"/>
              </a:rPr>
              <a:t>ÉPICAS</a:t>
            </a:r>
          </a:p>
        </p:txBody>
      </p:sp>
      <p:sp>
        <p:nvSpPr>
          <p:cNvPr id="92" name="TextBox 91">
            <a:hlinkClick r:id="rId2"/>
          </p:cNvPr>
          <p:cNvSpPr txBox="1"/>
          <p:nvPr/>
        </p:nvSpPr>
        <p:spPr>
          <a:xfrm>
            <a:off x="8205216" y="3332302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Solvo Recruiter Platform — MVP (búsqueda, configuración y outreach)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033760" y="3332302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#91207</a:t>
            </a:r>
          </a:p>
        </p:txBody>
      </p:sp>
      <p:sp>
        <p:nvSpPr>
          <p:cNvPr id="94" name="TextBox 93">
            <a:hlinkClick r:id="rId3"/>
          </p:cNvPr>
          <p:cNvSpPr txBox="1"/>
          <p:nvPr/>
        </p:nvSpPr>
        <p:spPr>
          <a:xfrm>
            <a:off x="8205216" y="3642283"/>
            <a:ext cx="2828544" cy="258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7"/>
              </a:lnSpc>
              <a:spcBef>
                <a:spcPts val="0"/>
              </a:spcBef>
              <a:spcAft>
                <a:spcPts val="0"/>
              </a:spcAft>
            </a:pPr>
            <a:r>
              <a:rPr sz="783" b="0">
                <a:solidFill>
                  <a:srgbClr val="111827"/>
                </a:solidFill>
                <a:latin typeface="Open Sans"/>
              </a:rPr>
              <a:t>Solvo Recruiter Platform — Release 2 (AI Search, gestión del candidato y exportación con trazabilidad)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033760" y="3642283"/>
            <a:ext cx="512064" cy="1292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07"/>
              </a:lnSpc>
              <a:spcBef>
                <a:spcPts val="0"/>
              </a:spcBef>
              <a:spcAft>
                <a:spcPts val="0"/>
              </a:spcAft>
            </a:pPr>
            <a:r>
              <a:rPr sz="621" b="0">
                <a:solidFill>
                  <a:srgbClr val="9CA3AF"/>
                </a:solidFill>
                <a:latin typeface="Consolas"/>
              </a:rPr>
              <a:t>#93872</a:t>
            </a:r>
          </a:p>
        </p:txBody>
      </p:sp>
      <p:pic>
        <p:nvPicPr>
          <p:cNvPr id="96" name="Picture 95" descr="SolvoGenAI_Icon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6580593"/>
            <a:ext cx="150876" cy="15087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736092" y="6591223"/>
            <a:ext cx="11065764" cy="12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729"/>
              </a:lnSpc>
              <a:spcBef>
                <a:spcPts val="0"/>
              </a:spcBef>
              <a:spcAft>
                <a:spcPts val="0"/>
              </a:spcAft>
            </a:pPr>
            <a:r>
              <a:rPr sz="729" b="0" spc="117">
                <a:solidFill>
                  <a:srgbClr val="9CA3AF"/>
                </a:solidFill>
                <a:latin typeface="Poppins"/>
              </a:rPr>
              <a:t>MAPA DE COMPONENTES · 12/12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olvoGenAI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968" y="2606040"/>
            <a:ext cx="2186062" cy="7543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607308"/>
            <a:ext cx="12192000" cy="249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404" b="1" spc="337">
                <a:solidFill>
                  <a:srgbClr val="DAD5F2"/>
                </a:solidFill>
                <a:latin typeface="Poppins"/>
              </a:rPr>
              <a:t>MAPA DE COMPONENTES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