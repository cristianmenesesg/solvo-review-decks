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olvoGenAI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480060"/>
            <a:ext cx="874425" cy="301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5360" y="2265197"/>
            <a:ext cx="10241280" cy="182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spc="267">
                <a:solidFill>
                  <a:srgbClr val="FBBF77"/>
                </a:solidFill>
                <a:latin typeface="Poppins"/>
              </a:rPr>
              <a:t>SPRINT REVIEW · SPRINT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2598496"/>
            <a:ext cx="10241280" cy="1357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60" b="1">
                <a:solidFill>
                  <a:srgbClr val="FFFFFF"/>
                </a:solidFill>
                <a:latin typeface="Poppins"/>
              </a:rPr>
              <a:t>Cuatro proyectos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60" b="1">
                <a:solidFill>
                  <a:srgbClr val="FDBA8C"/>
                </a:solidFill>
                <a:latin typeface="Poppins"/>
              </a:rPr>
              <a:t>camino a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4120972"/>
            <a:ext cx="14999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DAD5F2"/>
                </a:solidFill>
                <a:latin typeface="Open Sans"/>
              </a:rPr>
              <a:t>6 – 17 de julio de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2003" y="4141546"/>
            <a:ext cx="12700" cy="150876"/>
          </a:xfrm>
          <a:prstGeom prst="rect">
            <a:avLst/>
          </a:prstGeom>
          <a:solidFill>
            <a:srgbClr val="DAD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4883" y="4120972"/>
            <a:ext cx="845175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DAD5F2"/>
                </a:solidFill>
                <a:latin typeface="Open Sans"/>
              </a:rPr>
              <a:t>Softgic · Product 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360" y="4587316"/>
            <a:ext cx="2233171" cy="279806"/>
          </a:xfrm>
          <a:prstGeom prst="roundRect">
            <a:avLst>
              <a:gd name="adj" fmla="val 50000"/>
            </a:avLst>
          </a:prstGeom>
          <a:solidFill>
            <a:srgbClr val="6B5BC4"/>
          </a:solidFill>
          <a:ln w="12700">
            <a:solidFill>
              <a:srgbClr val="9A8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360" y="4587316"/>
            <a:ext cx="2233171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BBF77"/>
                </a:solidFill>
                <a:latin typeface="Poppins"/>
              </a:rPr>
              <a:t>CCO</a:t>
            </a:r>
            <a:r>
              <a:rPr sz="1026" b="1">
                <a:solidFill>
                  <a:srgbClr val="FFFFFF"/>
                </a:solidFill>
                <a:latin typeface="Poppins"/>
              </a:rPr>
              <a:t> · Current Client Openings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4835" y="4587316"/>
            <a:ext cx="1924518" cy="279806"/>
          </a:xfrm>
          <a:prstGeom prst="roundRect">
            <a:avLst>
              <a:gd name="adj" fmla="val 50000"/>
            </a:avLst>
          </a:prstGeom>
          <a:solidFill>
            <a:srgbClr val="6B5BC4"/>
          </a:solidFill>
          <a:ln w="12700">
            <a:solidFill>
              <a:srgbClr val="9A8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4835" y="4587316"/>
            <a:ext cx="1924518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BBF77"/>
                </a:solidFill>
                <a:latin typeface="Poppins"/>
              </a:rPr>
              <a:t>TPS</a:t>
            </a:r>
            <a:r>
              <a:rPr sz="1026" b="1">
                <a:solidFill>
                  <a:srgbClr val="FFFFFF"/>
                </a:solidFill>
                <a:latin typeface="Poppins"/>
              </a:rPr>
              <a:t> · Talent Pool Scraping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25658" y="4587316"/>
            <a:ext cx="2130904" cy="279806"/>
          </a:xfrm>
          <a:prstGeom prst="roundRect">
            <a:avLst>
              <a:gd name="adj" fmla="val 50000"/>
            </a:avLst>
          </a:prstGeom>
          <a:solidFill>
            <a:srgbClr val="6B5BC4"/>
          </a:solidFill>
          <a:ln w="12700">
            <a:solidFill>
              <a:srgbClr val="9A8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5658" y="4587316"/>
            <a:ext cx="2130904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BBF77"/>
                </a:solidFill>
                <a:latin typeface="Poppins"/>
              </a:rPr>
              <a:t>ODO</a:t>
            </a:r>
            <a:r>
              <a:rPr sz="1026" b="1">
                <a:solidFill>
                  <a:srgbClr val="FFFFFF"/>
                </a:solidFill>
                <a:latin typeface="Poppins"/>
              </a:rPr>
              <a:t> · On-Demand Openings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2867" y="4587316"/>
            <a:ext cx="2361580" cy="279806"/>
          </a:xfrm>
          <a:prstGeom prst="roundRect">
            <a:avLst>
              <a:gd name="adj" fmla="val 50000"/>
            </a:avLst>
          </a:prstGeom>
          <a:solidFill>
            <a:srgbClr val="6B5BC4"/>
          </a:solidFill>
          <a:ln w="12700">
            <a:solidFill>
              <a:srgbClr val="9A8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2867" y="4587316"/>
            <a:ext cx="2361580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BBF77"/>
                </a:solidFill>
                <a:latin typeface="Poppins"/>
              </a:rPr>
              <a:t>ECO</a:t>
            </a:r>
            <a:r>
              <a:rPr sz="1026" b="1">
                <a:solidFill>
                  <a:srgbClr val="FFFFFF"/>
                </a:solidFill>
                <a:latin typeface="Poppins"/>
              </a:rPr>
              <a:t> · Landing de Agendamiento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Los cuatro proyectos del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1294104"/>
            <a:ext cx="975360" cy="1185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E07E3A"/>
                </a:solidFill>
                <a:latin typeface="Poppins"/>
              </a:rPr>
              <a:t>CCO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0720" y="1294104"/>
            <a:ext cx="7315200" cy="1185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70"/>
              </a:spcAft>
            </a:pPr>
            <a:r>
              <a:rPr sz="1512" b="1">
                <a:solidFill>
                  <a:srgbClr val="111827"/>
                </a:solidFill>
                <a:latin typeface="Poppins"/>
              </a:rPr>
              <a:t>Current Client Openings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>
                <a:solidFill>
                  <a:srgbClr val="9CA3AF"/>
                </a:solidFill>
                <a:latin typeface="Open Sans"/>
              </a:rPr>
              <a:t>Cada semana busca las vacantes nuevas de los clientes activos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23402" y="1732416"/>
            <a:ext cx="693237" cy="243801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19414" y="1816598"/>
            <a:ext cx="75438" cy="7543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76462" y="1732416"/>
            <a:ext cx="693237" cy="2438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92400E"/>
                </a:solidFill>
                <a:latin typeface="Poppins"/>
              </a:rPr>
              <a:t>En 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" y="2479338"/>
            <a:ext cx="102412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547918"/>
            <a:ext cx="975360" cy="1185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E07E3A"/>
                </a:solidFill>
                <a:latin typeface="Poppins"/>
              </a:rPr>
              <a:t>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0720" y="2547918"/>
            <a:ext cx="7315200" cy="1185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70"/>
              </a:spcAft>
            </a:pPr>
            <a:r>
              <a:rPr sz="1512" b="1">
                <a:solidFill>
                  <a:srgbClr val="111827"/>
                </a:solidFill>
                <a:latin typeface="Poppins"/>
              </a:rPr>
              <a:t>Talent Pool Scraping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>
                <a:solidFill>
                  <a:srgbClr val="9CA3AF"/>
                </a:solidFill>
                <a:latin typeface="Open Sans"/>
              </a:rPr>
              <a:t>Captura del email del candidato en el pipeline · change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23402" y="2986230"/>
            <a:ext cx="693237" cy="243801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19414" y="3070412"/>
            <a:ext cx="75438" cy="7543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76462" y="2986230"/>
            <a:ext cx="693237" cy="2438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92400E"/>
                </a:solidFill>
                <a:latin typeface="Poppins"/>
              </a:rPr>
              <a:t>En QA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5360" y="3733152"/>
            <a:ext cx="102412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801732"/>
            <a:ext cx="975360" cy="1185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E07E3A"/>
                </a:solidFill>
                <a:latin typeface="Poppins"/>
              </a:rPr>
              <a:t>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0720" y="3801732"/>
            <a:ext cx="7315200" cy="1185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70"/>
              </a:spcAft>
            </a:pPr>
            <a:r>
              <a:rPr sz="1512" b="1">
                <a:solidFill>
                  <a:srgbClr val="111827"/>
                </a:solidFill>
                <a:latin typeface="Poppins"/>
              </a:rPr>
              <a:t>On-Demand Openings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>
                <a:solidFill>
                  <a:srgbClr val="9CA3AF"/>
                </a:solidFill>
                <a:latin typeface="Open Sans"/>
              </a:rPr>
              <a:t>Scraping de vacantes por demanda desde Solvo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23402" y="4240044"/>
            <a:ext cx="693237" cy="243801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19414" y="4324226"/>
            <a:ext cx="75438" cy="7543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76462" y="4240044"/>
            <a:ext cx="693237" cy="2438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92400E"/>
                </a:solidFill>
                <a:latin typeface="Poppins"/>
              </a:rPr>
              <a:t>En QA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5360" y="4986966"/>
            <a:ext cx="102412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360" y="5055546"/>
            <a:ext cx="975360" cy="1185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E07E3A"/>
                </a:solidFill>
                <a:latin typeface="Poppins"/>
              </a:rPr>
              <a:t>ECO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0720" y="5055546"/>
            <a:ext cx="7315200" cy="1185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70"/>
              </a:spcAft>
            </a:pPr>
            <a:r>
              <a:rPr sz="1512" b="1">
                <a:solidFill>
                  <a:srgbClr val="111827"/>
                </a:solidFill>
                <a:latin typeface="Poppins"/>
              </a:rPr>
              <a:t>Landing de Agendamiento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8" b="0">
                <a:solidFill>
                  <a:srgbClr val="9CA3AF"/>
                </a:solidFill>
                <a:latin typeface="Open Sans"/>
              </a:rPr>
              <a:t>Landing propia para reservar reuniones con un comercial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48532" y="5493858"/>
            <a:ext cx="1168107" cy="243801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4544" y="5578040"/>
            <a:ext cx="75438" cy="75438"/>
          </a:xfrm>
          <a:prstGeom prst="ellipse">
            <a:avLst/>
          </a:prstGeom>
          <a:solidFill>
            <a:srgbClr val="8F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01593" y="5493858"/>
            <a:ext cx="1168107" cy="2438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4B5563"/>
                </a:solidFill>
                <a:latin typeface="Poppins"/>
              </a:rPr>
              <a:t>Sin desplegar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5360" y="6240780"/>
            <a:ext cx="102412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9" name="Picture 28" descr="SolvoGenAI_Ico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18481" y="480060"/>
            <a:ext cx="648958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spc="194">
                <a:solidFill>
                  <a:srgbClr val="DAD5F2"/>
                </a:solidFill>
                <a:latin typeface="Poppins"/>
              </a:rPr>
              <a:t>01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360" y="2683002"/>
            <a:ext cx="480060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940558"/>
            <a:ext cx="6759244" cy="5431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88" b="1">
                <a:solidFill>
                  <a:srgbClr val="FFFFFF"/>
                </a:solidFill>
                <a:latin typeface="Poppins"/>
              </a:rPr>
              <a:t>Current Client Openings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3675735"/>
            <a:ext cx="675924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4" b="0">
                <a:solidFill>
                  <a:srgbClr val="E4E0F6"/>
                </a:solidFill>
                <a:latin typeface="Open Sans"/>
              </a:rPr>
              <a:t>Cada semana busca, sin que nadie la dispare, las vacantes que publican los clientes activos de Solvo y le arma a cada vendedor el listado de sus cuentas.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CURRENT CLIENT OPENINGS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Detección semanal de vacantes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1170660"/>
            <a:ext cx="7373721" cy="2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>
                <a:solidFill>
                  <a:srgbClr val="4B5563"/>
                </a:solidFill>
                <a:latin typeface="Open Sans"/>
              </a:rPr>
              <a:t>Cada viernes, en automático: encuentra las vacantes nuevas de los clientes y avisa a su vendedor.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812721"/>
            <a:ext cx="8534400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47622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622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08961"/>
            <a:ext cx="1609344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Arranque semanal</a:t>
            </a:r>
          </a:p>
        </p:txBody>
      </p:sp>
      <p:sp>
        <p:nvSpPr>
          <p:cNvPr id="10" name="Oval 9"/>
          <p:cNvSpPr/>
          <p:nvPr/>
        </p:nvSpPr>
        <p:spPr>
          <a:xfrm>
            <a:off x="3254502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4502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1008" y="2208961"/>
            <a:ext cx="1609344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Chequeo de salud</a:t>
            </a:r>
          </a:p>
        </p:txBody>
      </p:sp>
      <p:sp>
        <p:nvSpPr>
          <p:cNvPr id="13" name="Oval 12"/>
          <p:cNvSpPr/>
          <p:nvPr/>
        </p:nvSpPr>
        <p:spPr>
          <a:xfrm>
            <a:off x="4961382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1382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7888" y="2208961"/>
            <a:ext cx="1609344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Clientes activos</a:t>
            </a:r>
          </a:p>
        </p:txBody>
      </p:sp>
      <p:sp>
        <p:nvSpPr>
          <p:cNvPr id="16" name="Oval 15"/>
          <p:cNvSpPr/>
          <p:nvPr/>
        </p:nvSpPr>
        <p:spPr>
          <a:xfrm>
            <a:off x="6668262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8262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208961"/>
            <a:ext cx="1609344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Búsqueda en portales</a:t>
            </a:r>
          </a:p>
        </p:txBody>
      </p:sp>
      <p:sp>
        <p:nvSpPr>
          <p:cNvPr id="19" name="Oval 18"/>
          <p:cNvSpPr/>
          <p:nvPr/>
        </p:nvSpPr>
        <p:spPr>
          <a:xfrm>
            <a:off x="8375142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142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1648" y="2208961"/>
            <a:ext cx="1609344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Consolidación</a:t>
            </a:r>
          </a:p>
        </p:txBody>
      </p:sp>
      <p:sp>
        <p:nvSpPr>
          <p:cNvPr id="22" name="Oval 21"/>
          <p:cNvSpPr/>
          <p:nvPr/>
        </p:nvSpPr>
        <p:spPr>
          <a:xfrm>
            <a:off x="10082022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2022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8528" y="2208961"/>
            <a:ext cx="1609344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Reporte al vendedor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360" y="3093060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360" y="3118460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3188" y="3202788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01</a:t>
            </a:r>
            <a:r>
              <a:rPr sz="1026" b="1">
                <a:solidFill>
                  <a:srgbClr val="111827"/>
                </a:solidFill>
                <a:latin typeface="Poppins"/>
              </a:rPr>
              <a:t>  Arranque semanal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Cada viernes el proceso arranca solo, sin que nadie lo dispare.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0080" y="3093060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50080" y="3118460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7908" y="3202788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02</a:t>
            </a:r>
            <a:r>
              <a:rPr sz="1026" b="1">
                <a:solidFill>
                  <a:srgbClr val="111827"/>
                </a:solidFill>
                <a:latin typeface="Poppins"/>
              </a:rPr>
              <a:t>  Chequeo de salud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Antes de empezar, verifica que los servicios externos respondan; si alguno está caído, no arranca para no dejar resultados a medias.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24799" y="3093060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24799" y="3118460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2627" y="3202788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03</a:t>
            </a:r>
            <a:r>
              <a:rPr sz="1026" b="1">
                <a:solidFill>
                  <a:srgbClr val="111827"/>
                </a:solidFill>
                <a:latin typeface="Poppins"/>
              </a:rPr>
              <a:t>  Clientes activos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Toma solo las empresas que hoy son clientes de Solvo.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5360" y="4068337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5360" y="4093737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3188" y="4178065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04</a:t>
            </a:r>
            <a:r>
              <a:rPr sz="1026" b="1">
                <a:solidFill>
                  <a:srgbClr val="111827"/>
                </a:solidFill>
                <a:latin typeface="Poppins"/>
              </a:rPr>
              <a:t>  Búsqueda en portales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Busca en paralelo las vacantes publicadas por cada cliente en ambos portales; si una empresa falla, el resto continúa.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50080" y="4068337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50080" y="4093737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7908" y="4178065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05</a:t>
            </a:r>
            <a:r>
              <a:rPr sz="1026" b="1">
                <a:solidFill>
                  <a:srgbClr val="111827"/>
                </a:solidFill>
                <a:latin typeface="Poppins"/>
              </a:rPr>
              <a:t>  Consolidación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Guarda las vacantes nuevas y descarta las que ya conocía.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24799" y="4068337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4093737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2627" y="4178065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06</a:t>
            </a:r>
            <a:r>
              <a:rPr sz="1026" b="1">
                <a:solidFill>
                  <a:srgbClr val="111827"/>
                </a:solidFill>
                <a:latin typeface="Poppins"/>
              </a:rPr>
              <a:t>  Reporte al vendedor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Envía a cada vendedor un correo con las vacantes recientes de sus clientes.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5360" y="5535091"/>
            <a:ext cx="10241280" cy="576072"/>
          </a:xfrm>
          <a:prstGeom prst="roundRect">
            <a:avLst>
              <a:gd name="adj" fmla="val 14285"/>
            </a:avLst>
          </a:prstGeom>
          <a:solidFill>
            <a:srgbClr val="FEFBF4"/>
          </a:solidFill>
          <a:ln w="12700">
            <a:solidFill>
              <a:srgbClr val="F7D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126236" y="5667108"/>
            <a:ext cx="705760" cy="2477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22248" y="5753261"/>
            <a:ext cx="75438" cy="7543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81696" y="5667108"/>
            <a:ext cx="705760" cy="2477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1">
                <a:solidFill>
                  <a:srgbClr val="92400E"/>
                </a:solidFill>
                <a:latin typeface="Poppins"/>
              </a:rPr>
              <a:t>En QA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7068" y="5535091"/>
            <a:ext cx="9038695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>
                <a:solidFill>
                  <a:srgbClr val="4B5563"/>
                </a:solidFill>
                <a:latin typeface="Open Sans"/>
              </a:rPr>
              <a:t>En pruebas con el listado oficial de clientes que entregó Solvo. Sale a producción apenas pase la validación — objetivo Sprint 15.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360" y="6275755"/>
            <a:ext cx="45424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1" spc="151">
                <a:solidFill>
                  <a:srgbClr val="9CA3AF"/>
                </a:solidFill>
                <a:latin typeface="Poppins"/>
              </a:rPr>
              <a:t>STACK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78373" y="6275755"/>
            <a:ext cx="326219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78373" y="6275755"/>
            <a:ext cx="326219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n8n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26512" y="6275755"/>
            <a:ext cx="735354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26512" y="6275755"/>
            <a:ext cx="735354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PostgreSQL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83787" y="6275755"/>
            <a:ext cx="560010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83787" y="6275755"/>
            <a:ext cx="560010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Oxylabs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65718" y="6275755"/>
            <a:ext cx="443115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65718" y="6275755"/>
            <a:ext cx="44311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Apify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30753" y="6275755"/>
            <a:ext cx="443115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30753" y="6275755"/>
            <a:ext cx="44311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Brevo</a:t>
            </a:r>
          </a:p>
        </p:txBody>
      </p:sp>
      <p:pic>
        <p:nvPicPr>
          <p:cNvPr id="59" name="Picture 58" descr="SolvoGenAI_Ico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CCO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94410" y="480060"/>
            <a:ext cx="673029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spc="194">
                <a:solidFill>
                  <a:srgbClr val="DAD5F2"/>
                </a:solidFill>
                <a:latin typeface="Poppins"/>
              </a:rPr>
              <a:t>02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360" y="2411425"/>
            <a:ext cx="480060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668981"/>
            <a:ext cx="6759244" cy="1086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88" b="1">
                <a:solidFill>
                  <a:srgbClr val="FFFFFF"/>
                </a:solidFill>
                <a:latin typeface="Poppins"/>
              </a:rPr>
              <a:t>Talent Pool Scraping — Release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3947312"/>
            <a:ext cx="675924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4" b="0">
                <a:solidFill>
                  <a:srgbClr val="E4E0F6"/>
                </a:solidFill>
                <a:latin typeface="Open Sans"/>
              </a:rPr>
              <a:t>Busca en LinkedIn candidatos abiertos a trabajar fuera de USA y arma un pool listo para reclutar. Este sprint suma la captura del email de cada candidato.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TALENT POOL SCRAPING — RELEASE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Scraping de candidatos #OpenToWork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1170660"/>
            <a:ext cx="7373721" cy="2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>
                <a:solidFill>
                  <a:srgbClr val="4B5563"/>
                </a:solidFill>
                <a:latin typeface="Open Sans"/>
              </a:rPr>
              <a:t>Busca candidatos abiertos a trabajar en LinkedIn y, desde este sprint, también guarda su email.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99488" y="2073325"/>
            <a:ext cx="8193023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18310" y="1811197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18310" y="1811197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69565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Disparo programado</a:t>
            </a:r>
          </a:p>
        </p:txBody>
      </p:sp>
      <p:sp>
        <p:nvSpPr>
          <p:cNvPr id="10" name="Oval 9"/>
          <p:cNvSpPr/>
          <p:nvPr/>
        </p:nvSpPr>
        <p:spPr>
          <a:xfrm>
            <a:off x="3766566" y="1811197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6566" y="1811197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469565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Búsqueda de perfiles</a:t>
            </a:r>
          </a:p>
        </p:txBody>
      </p:sp>
      <p:sp>
        <p:nvSpPr>
          <p:cNvPr id="13" name="Oval 12"/>
          <p:cNvSpPr/>
          <p:nvPr/>
        </p:nvSpPr>
        <p:spPr>
          <a:xfrm>
            <a:off x="5814822" y="1811197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4822" y="1811197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69565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Validación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7801356" y="1749475"/>
            <a:ext cx="685800" cy="685800"/>
          </a:xfrm>
          <a:prstGeom prst="ellipse">
            <a:avLst/>
          </a:prstGeom>
          <a:noFill/>
          <a:ln w="19050">
            <a:solidFill>
              <a:srgbClr val="F19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14910" y="1543735"/>
            <a:ext cx="1058690" cy="171450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4910" y="1543735"/>
            <a:ext cx="105869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" b="1" spc="94">
                <a:solidFill>
                  <a:srgbClr val="E07E3A"/>
                </a:solidFill>
                <a:latin typeface="Poppins"/>
              </a:rPr>
              <a:t>CHANGE REQUEST</a:t>
            </a:r>
          </a:p>
        </p:txBody>
      </p:sp>
      <p:sp>
        <p:nvSpPr>
          <p:cNvPr id="19" name="Oval 18"/>
          <p:cNvSpPr/>
          <p:nvPr/>
        </p:nvSpPr>
        <p:spPr>
          <a:xfrm>
            <a:off x="7863078" y="1811197"/>
            <a:ext cx="562356" cy="562356"/>
          </a:xfrm>
          <a:prstGeom prst="ellipse">
            <a:avLst/>
          </a:prstGeom>
          <a:solidFill>
            <a:srgbClr val="E07E3A"/>
          </a:solidFill>
          <a:ln w="25400">
            <a:solidFill>
              <a:srgbClr val="F19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078" y="1811197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2469565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11827"/>
                </a:solidFill>
                <a:latin typeface="Poppins"/>
              </a:rPr>
              <a:t>Captura de email</a:t>
            </a:r>
          </a:p>
        </p:txBody>
      </p:sp>
      <p:sp>
        <p:nvSpPr>
          <p:cNvPr id="22" name="Oval 21"/>
          <p:cNvSpPr/>
          <p:nvPr/>
        </p:nvSpPr>
        <p:spPr>
          <a:xfrm>
            <a:off x="9911334" y="1811197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1334" y="1811197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469565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Disponibilidad oculta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360" y="3223362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360" y="3248762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3188" y="3333090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01</a:t>
            </a:r>
            <a:r>
              <a:rPr sz="1026" b="1">
                <a:solidFill>
                  <a:srgbClr val="111827"/>
                </a:solidFill>
                <a:latin typeface="Poppins"/>
              </a:rPr>
              <a:t>  Disparo programado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Arranca según la frecuencia configurada y recorre cada perfil de búsqueda, país por país y ciudad por ciudad.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0080" y="3223362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50080" y="3248762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7908" y="3333090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02</a:t>
            </a:r>
            <a:r>
              <a:rPr sz="1026" b="1">
                <a:solidFill>
                  <a:srgbClr val="111827"/>
                </a:solidFill>
                <a:latin typeface="Poppins"/>
              </a:rPr>
              <a:t>  Búsqueda de perfiles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Busca en español e inglés, prioriza la señal open-to-work y excluye reclutadores.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24799" y="3223362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24799" y="3248762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2627" y="3333090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03</a:t>
            </a:r>
            <a:r>
              <a:rPr sz="1026" b="1">
                <a:solidFill>
                  <a:srgbClr val="111827"/>
                </a:solidFill>
                <a:latin typeface="Poppins"/>
              </a:rPr>
              <a:t>  Validación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Revisa cada perfil, confirma que esté abierto a trabajar y descarta a quienes no lo están.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5360" y="4198639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5360" y="4224039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3188" y="4308367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04</a:t>
            </a:r>
            <a:r>
              <a:rPr sz="1026" b="1">
                <a:solidFill>
                  <a:srgbClr val="111827"/>
                </a:solidFill>
                <a:latin typeface="Poppins"/>
              </a:rPr>
              <a:t>  Captura de email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Nuevo este sprint: en la misma ejecución busca y guarda el email de cada candidato. Antes se hacía después y a mano; ahora el candidato ya queda listo para contactar.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50080" y="4198639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50080" y="4224039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7908" y="4308367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05</a:t>
            </a:r>
            <a:r>
              <a:rPr sz="1026" b="1">
                <a:solidFill>
                  <a:srgbClr val="111827"/>
                </a:solidFill>
                <a:latin typeface="Poppins"/>
              </a:rPr>
              <a:t>  Disponibilidad oculta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Revisa candidatos que no figuraban disponibles para detectar desempleo o freelance y reincorporarlos al pool.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5360" y="5535091"/>
            <a:ext cx="10241280" cy="576072"/>
          </a:xfrm>
          <a:prstGeom prst="roundRect">
            <a:avLst>
              <a:gd name="adj" fmla="val 14285"/>
            </a:avLst>
          </a:prstGeom>
          <a:solidFill>
            <a:srgbClr val="FEFBF4"/>
          </a:solidFill>
          <a:ln w="12700">
            <a:solidFill>
              <a:srgbClr val="F7D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26236" y="5667108"/>
            <a:ext cx="705760" cy="2477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22248" y="5753261"/>
            <a:ext cx="75438" cy="7543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81696" y="5667108"/>
            <a:ext cx="705760" cy="2477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1">
                <a:solidFill>
                  <a:srgbClr val="92400E"/>
                </a:solidFill>
                <a:latin typeface="Poppins"/>
              </a:rPr>
              <a:t>En 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7068" y="5535091"/>
            <a:ext cx="9038695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>
                <a:solidFill>
                  <a:srgbClr val="4B5563"/>
                </a:solidFill>
                <a:latin typeface="Open Sans"/>
              </a:rPr>
              <a:t>En QA la parte nueva: la búsqueda del email de cada candidato. Pasa a producción en el Sprint 16.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360" y="6275755"/>
            <a:ext cx="45424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1" spc="151">
                <a:solidFill>
                  <a:srgbClr val="9CA3AF"/>
                </a:solidFill>
                <a:latin typeface="Poppins"/>
              </a:rPr>
              <a:t>STACK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78373" y="6275755"/>
            <a:ext cx="326219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78373" y="6275755"/>
            <a:ext cx="326219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n8n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6512" y="6275755"/>
            <a:ext cx="560010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6512" y="6275755"/>
            <a:ext cx="560010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Oxylabs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08443" y="6275755"/>
            <a:ext cx="735354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8443" y="6275755"/>
            <a:ext cx="735354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PostgreSQL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65718" y="6275755"/>
            <a:ext cx="1144489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65718" y="6275755"/>
            <a:ext cx="1144489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servicio de email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32127" y="6275755"/>
            <a:ext cx="501563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32127" y="6275755"/>
            <a:ext cx="501563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OpenAI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55610" y="6275755"/>
            <a:ext cx="443115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55610" y="6275755"/>
            <a:ext cx="44311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Brevo</a:t>
            </a:r>
          </a:p>
        </p:txBody>
      </p:sp>
      <p:pic>
        <p:nvPicPr>
          <p:cNvPr id="58" name="Picture 57" descr="SolvoGenAI_Ico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TPS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90205" y="480060"/>
            <a:ext cx="677234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spc="194">
                <a:solidFill>
                  <a:srgbClr val="DAD5F2"/>
                </a:solidFill>
                <a:latin typeface="Poppins"/>
              </a:rPr>
              <a:t>03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360" y="2683002"/>
            <a:ext cx="480060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940558"/>
            <a:ext cx="6759244" cy="5431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88" b="1">
                <a:solidFill>
                  <a:srgbClr val="FFFFFF"/>
                </a:solidFill>
                <a:latin typeface="Poppins"/>
              </a:rPr>
              <a:t>On-Demand Openings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3675735"/>
            <a:ext cx="675924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4" b="0">
                <a:solidFill>
                  <a:srgbClr val="E4E0F6"/>
                </a:solidFill>
                <a:latin typeface="Open Sans"/>
              </a:rPr>
              <a:t>Desde Solvo Platform, el comercial pide las vacantes de una empresa puntual y revisa el resultado antes de guardarlo, sin esperar al barrido semanal.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ON-DEMAND OPENINGS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Scraping de vacantes por demanda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1170660"/>
            <a:ext cx="7373721" cy="2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>
                <a:solidFill>
                  <a:srgbClr val="4B5563"/>
                </a:solidFill>
                <a:latin typeface="Open Sans"/>
              </a:rPr>
              <a:t>El comercial dispara, revisa un preview y decide qué guardar.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99488" y="1812721"/>
            <a:ext cx="8193023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18310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18310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08961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Disparo</a:t>
            </a:r>
          </a:p>
        </p:txBody>
      </p:sp>
      <p:sp>
        <p:nvSpPr>
          <p:cNvPr id="10" name="Oval 9"/>
          <p:cNvSpPr/>
          <p:nvPr/>
        </p:nvSpPr>
        <p:spPr>
          <a:xfrm>
            <a:off x="3766566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6566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208961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Búsqueda</a:t>
            </a:r>
          </a:p>
        </p:txBody>
      </p:sp>
      <p:sp>
        <p:nvSpPr>
          <p:cNvPr id="13" name="Oval 12"/>
          <p:cNvSpPr/>
          <p:nvPr/>
        </p:nvSpPr>
        <p:spPr>
          <a:xfrm>
            <a:off x="5814822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4822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08961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Preview</a:t>
            </a:r>
          </a:p>
        </p:txBody>
      </p:sp>
      <p:sp>
        <p:nvSpPr>
          <p:cNvPr id="16" name="Oval 15"/>
          <p:cNvSpPr/>
          <p:nvPr/>
        </p:nvSpPr>
        <p:spPr>
          <a:xfrm>
            <a:off x="7863078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078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208961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Confirmación</a:t>
            </a:r>
          </a:p>
        </p:txBody>
      </p:sp>
      <p:sp>
        <p:nvSpPr>
          <p:cNvPr id="19" name="Oval 18"/>
          <p:cNvSpPr/>
          <p:nvPr/>
        </p:nvSpPr>
        <p:spPr>
          <a:xfrm>
            <a:off x="9911334" y="1550593"/>
            <a:ext cx="562356" cy="5623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1334" y="1550593"/>
            <a:ext cx="562356" cy="562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9CA3AF"/>
                </a:solidFill>
                <a:latin typeface="Poppin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208961"/>
            <a:ext cx="1950720" cy="282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4B5563"/>
                </a:solidFill>
                <a:latin typeface="Poppins"/>
              </a:rPr>
              <a:t>Trazabilidad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360" y="3093060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5360" y="3118460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3188" y="3202788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01</a:t>
            </a:r>
            <a:r>
              <a:rPr sz="1026" b="1">
                <a:solidFill>
                  <a:srgbClr val="111827"/>
                </a:solidFill>
                <a:latin typeface="Poppins"/>
              </a:rPr>
              <a:t>  Disparo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Un comercial pide las vacantes de una empresa puntual; la plataforma verifica que no se haya consultado hace poco.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0080" y="3093060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50080" y="3118460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7908" y="3202788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02</a:t>
            </a:r>
            <a:r>
              <a:rPr sz="1026" b="1">
                <a:solidFill>
                  <a:srgbClr val="111827"/>
                </a:solidFill>
                <a:latin typeface="Poppins"/>
              </a:rPr>
              <a:t>  Búsqueda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Busca las vacantes recientes de esa empresa en Indeed y LinkedIn, sin guardar nada todavía.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4799" y="3093060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24799" y="3118460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2627" y="3202788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03</a:t>
            </a:r>
            <a:r>
              <a:rPr sz="1026" b="1">
                <a:solidFill>
                  <a:srgbClr val="111827"/>
                </a:solidFill>
                <a:latin typeface="Poppins"/>
              </a:rPr>
              <a:t>  Preview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Muestra el resultado en la plataforma para que el comercial revise y elija qué aceptar.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360" y="4068337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5360" y="4093737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3188" y="4178065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04</a:t>
            </a:r>
            <a:r>
              <a:rPr sz="1026" b="1">
                <a:solidFill>
                  <a:srgbClr val="111827"/>
                </a:solidFill>
                <a:latin typeface="Poppins"/>
              </a:rPr>
              <a:t>  Confirmación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Las vacantes aceptadas se traen completas, se evalúa con IA su viabilidad remota y se guardan asociadas a la empresa.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0080" y="4068337"/>
            <a:ext cx="3291840" cy="865548"/>
          </a:xfrm>
          <a:prstGeom prst="roundRect">
            <a:avLst>
              <a:gd name="adj" fmla="val 117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50080" y="4093737"/>
            <a:ext cx="44450" cy="814748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7908" y="4178065"/>
            <a:ext cx="3034284" cy="646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6"/>
              </a:spcAft>
            </a:pPr>
            <a:r>
              <a:rPr sz="1026" b="1">
                <a:solidFill>
                  <a:srgbClr val="E07E3A"/>
                </a:solidFill>
                <a:latin typeface="Poppins"/>
              </a:rPr>
              <a:t>05</a:t>
            </a:r>
            <a:r>
              <a:rPr sz="1026" b="1">
                <a:solidFill>
                  <a:srgbClr val="111827"/>
                </a:solidFill>
                <a:latin typeface="Poppins"/>
              </a:rPr>
              <a:t>  Trazabilidad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Cada ejecución queda registrada: resultados, conteos y consumo.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360" y="5535091"/>
            <a:ext cx="10241280" cy="576072"/>
          </a:xfrm>
          <a:prstGeom prst="roundRect">
            <a:avLst>
              <a:gd name="adj" fmla="val 14285"/>
            </a:avLst>
          </a:prstGeom>
          <a:solidFill>
            <a:srgbClr val="FEFBF4"/>
          </a:solidFill>
          <a:ln w="12700">
            <a:solidFill>
              <a:srgbClr val="F7D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26236" y="5667108"/>
            <a:ext cx="705760" cy="2477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22248" y="5753261"/>
            <a:ext cx="75438" cy="7543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81696" y="5667108"/>
            <a:ext cx="705760" cy="2477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1">
                <a:solidFill>
                  <a:srgbClr val="92400E"/>
                </a:solidFill>
                <a:latin typeface="Poppins"/>
              </a:rPr>
              <a:t>En 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7068" y="5535091"/>
            <a:ext cx="9038695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>
                <a:solidFill>
                  <a:srgbClr val="4B5563"/>
                </a:solidFill>
                <a:latin typeface="Open Sans"/>
              </a:rPr>
              <a:t>En QA. Antes de salir a producción falta decidir en qué máquina va a correr — objetivo Sprint 16.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360" y="6275755"/>
            <a:ext cx="45424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1" spc="151">
                <a:solidFill>
                  <a:srgbClr val="9CA3AF"/>
                </a:solidFill>
                <a:latin typeface="Poppins"/>
              </a:rPr>
              <a:t>STACK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78373" y="6275755"/>
            <a:ext cx="326219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78373" y="6275755"/>
            <a:ext cx="326219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n8n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26512" y="6275755"/>
            <a:ext cx="560010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6512" y="6275755"/>
            <a:ext cx="560010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Oxylabs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08443" y="6275755"/>
            <a:ext cx="501563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08443" y="6275755"/>
            <a:ext cx="501563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OpenAI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31926" y="6275755"/>
            <a:ext cx="735354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31926" y="6275755"/>
            <a:ext cx="735354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PostgreSQL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89201" y="6275755"/>
            <a:ext cx="969145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89201" y="6275755"/>
            <a:ext cx="96914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Solvo Platform</a:t>
            </a:r>
          </a:p>
        </p:txBody>
      </p:sp>
      <p:pic>
        <p:nvPicPr>
          <p:cNvPr id="53" name="Picture 52" descr="SolvoGenAI_Ico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ODO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ON-DEMAND OPENINGS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La experiencia en Solvo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926" y="1508760"/>
            <a:ext cx="6037986" cy="480060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2926" y="1508760"/>
            <a:ext cx="6037986" cy="2743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926" y="1770380"/>
            <a:ext cx="6037986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18938" y="1615059"/>
            <a:ext cx="61722" cy="6172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28666" y="1615059"/>
            <a:ext cx="61722" cy="6172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38394" y="1615059"/>
            <a:ext cx="61722" cy="6172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5658" y="1508760"/>
            <a:ext cx="603798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9CA3AF"/>
                </a:solidFill>
                <a:latin typeface="Consolas"/>
              </a:rPr>
              <a:t>solvoplatform.solvoglobal.com · Sales Hub</a:t>
            </a:r>
          </a:p>
        </p:txBody>
      </p:sp>
      <p:pic>
        <p:nvPicPr>
          <p:cNvPr id="12" name="Picture 11" descr="on-deman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26" y="1783080"/>
            <a:ext cx="6037986" cy="452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360" y="3315157"/>
            <a:ext cx="2926079" cy="144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spc="178">
                <a:solidFill>
                  <a:srgbClr val="E07E3A"/>
                </a:solidFill>
                <a:latin typeface="Poppins"/>
              </a:rPr>
              <a:t>01 /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" y="3568903"/>
            <a:ext cx="2926079" cy="473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11827"/>
                </a:solidFill>
                <a:latin typeface="Poppins"/>
              </a:rPr>
              <a:t>Disparo desde el listado de Empresas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" y="4138117"/>
            <a:ext cx="2926079" cy="364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>
                <a:solidFill>
                  <a:srgbClr val="4B5563"/>
                </a:solidFill>
                <a:latin typeface="Open Sans"/>
              </a:rPr>
              <a:t>Listado de Empresas con el popup Scrape Vacancies y la empresa buscada por nombre.</a:t>
            </a:r>
          </a:p>
        </p:txBody>
      </p:sp>
      <p:pic>
        <p:nvPicPr>
          <p:cNvPr id="16" name="Picture 15" descr="SolvoGenAI_Icon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ODO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ON-DEMAND OPENINGS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La experiencia en Solvo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926" y="1508760"/>
            <a:ext cx="6037986" cy="480060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2926" y="1508760"/>
            <a:ext cx="6037986" cy="2743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926" y="1770380"/>
            <a:ext cx="6037986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18938" y="1615059"/>
            <a:ext cx="61722" cy="6172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28666" y="1615059"/>
            <a:ext cx="61722" cy="6172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38394" y="1615059"/>
            <a:ext cx="61722" cy="6172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5658" y="1508760"/>
            <a:ext cx="603798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9CA3AF"/>
                </a:solidFill>
                <a:latin typeface="Consolas"/>
              </a:rPr>
              <a:t>solvoplatform.solvoglobal.com · Sales Hub</a:t>
            </a:r>
          </a:p>
        </p:txBody>
      </p:sp>
      <p:pic>
        <p:nvPicPr>
          <p:cNvPr id="12" name="Picture 11" descr="on-demand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26" y="1783080"/>
            <a:ext cx="6037986" cy="452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360" y="3433457"/>
            <a:ext cx="2926079" cy="144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spc="178">
                <a:solidFill>
                  <a:srgbClr val="E07E3A"/>
                </a:solidFill>
                <a:latin typeface="Poppins"/>
              </a:rPr>
              <a:t>02 /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" y="3687203"/>
            <a:ext cx="2926079" cy="236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11827"/>
                </a:solidFill>
                <a:latin typeface="Poppins"/>
              </a:rPr>
              <a:t>Preview antes de guardar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" y="4019816"/>
            <a:ext cx="2926079" cy="364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>
                <a:solidFill>
                  <a:srgbClr val="4B5563"/>
                </a:solidFill>
                <a:latin typeface="Open Sans"/>
              </a:rPr>
              <a:t>Las vacantes encontradas por portal, listas para confirmar.</a:t>
            </a:r>
          </a:p>
        </p:txBody>
      </p:sp>
      <p:pic>
        <p:nvPicPr>
          <p:cNvPr id="16" name="Picture 15" descr="SolvoGenAI_Icon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ON-DEMAND OPENINGS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La experiencia en Solvo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926" y="1508760"/>
            <a:ext cx="6037986" cy="480060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2926" y="1508760"/>
            <a:ext cx="6037986" cy="2743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926" y="1770380"/>
            <a:ext cx="6037986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18938" y="1615059"/>
            <a:ext cx="61722" cy="6172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28666" y="1615059"/>
            <a:ext cx="61722" cy="6172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38394" y="1615059"/>
            <a:ext cx="61722" cy="6172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5658" y="1508760"/>
            <a:ext cx="603798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9CA3AF"/>
                </a:solidFill>
                <a:latin typeface="Consolas"/>
              </a:rPr>
              <a:t>solvoplatform.solvoglobal.com · Sales Hub</a:t>
            </a:r>
          </a:p>
        </p:txBody>
      </p:sp>
      <p:pic>
        <p:nvPicPr>
          <p:cNvPr id="12" name="Picture 11" descr="on-demand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26" y="1783080"/>
            <a:ext cx="6037986" cy="452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360" y="3315157"/>
            <a:ext cx="2926079" cy="144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spc="178">
                <a:solidFill>
                  <a:srgbClr val="E07E3A"/>
                </a:solidFill>
                <a:latin typeface="Poppins"/>
              </a:rPr>
              <a:t>03 /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" y="3568903"/>
            <a:ext cx="2926079" cy="473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11827"/>
                </a:solidFill>
                <a:latin typeface="Poppins"/>
              </a:rPr>
              <a:t>Vacantes guardadas en la empresa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" y="4138117"/>
            <a:ext cx="2926079" cy="364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>
                <a:solidFill>
                  <a:srgbClr val="4B5563"/>
                </a:solidFill>
                <a:latin typeface="Open Sans"/>
              </a:rPr>
              <a:t>Detalle de la empresa, tab Vacantes, con el botón Scrape Vacancies Now.</a:t>
            </a:r>
          </a:p>
        </p:txBody>
      </p:sp>
      <p:pic>
        <p:nvPicPr>
          <p:cNvPr id="16" name="Picture 15" descr="SolvoGenAI_Icon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ON-DEMAND OPENINGS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La experiencia en Solvo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926" y="1508760"/>
            <a:ext cx="6037986" cy="480060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2926" y="1508760"/>
            <a:ext cx="6037986" cy="2743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926" y="1770380"/>
            <a:ext cx="6037986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18938" y="1615059"/>
            <a:ext cx="61722" cy="6172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28666" y="1615059"/>
            <a:ext cx="61722" cy="6172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38394" y="1615059"/>
            <a:ext cx="61722" cy="6172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5658" y="1508760"/>
            <a:ext cx="603798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9CA3AF"/>
                </a:solidFill>
                <a:latin typeface="Consolas"/>
              </a:rPr>
              <a:t>solvoplatform.solvoglobal.com · Sales Hub</a:t>
            </a:r>
          </a:p>
        </p:txBody>
      </p:sp>
      <p:pic>
        <p:nvPicPr>
          <p:cNvPr id="12" name="Picture 11" descr="on-demand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926" y="1783080"/>
            <a:ext cx="6037986" cy="452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360" y="3433457"/>
            <a:ext cx="2926079" cy="144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spc="178">
                <a:solidFill>
                  <a:srgbClr val="E07E3A"/>
                </a:solidFill>
                <a:latin typeface="Poppins"/>
              </a:rPr>
              <a:t>04 /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" y="3687203"/>
            <a:ext cx="2926079" cy="236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11827"/>
                </a:solidFill>
                <a:latin typeface="Poppins"/>
              </a:rPr>
              <a:t>Aviso por consulta reciente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" y="4019816"/>
            <a:ext cx="2926079" cy="364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>
                <a:solidFill>
                  <a:srgbClr val="4B5563"/>
                </a:solidFill>
                <a:latin typeface="Open Sans"/>
              </a:rPr>
              <a:t>La plataforma avisa que la empresa ya se consultó hace poco.</a:t>
            </a:r>
          </a:p>
        </p:txBody>
      </p:sp>
      <p:pic>
        <p:nvPicPr>
          <p:cNvPr id="16" name="Picture 15" descr="SolvoGenAI_Icon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ODO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81313" y="480060"/>
            <a:ext cx="686126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spc="194">
                <a:solidFill>
                  <a:srgbClr val="DAD5F2"/>
                </a:solidFill>
                <a:latin typeface="Poppins"/>
              </a:rPr>
              <a:t>04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360" y="2411425"/>
            <a:ext cx="480060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668981"/>
            <a:ext cx="6759244" cy="1086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88" b="1">
                <a:solidFill>
                  <a:srgbClr val="FFFFFF"/>
                </a:solidFill>
                <a:latin typeface="Poppins"/>
              </a:rPr>
              <a:t>Landing de Agendamiento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3947312"/>
            <a:ext cx="675924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4" b="0">
                <a:solidFill>
                  <a:srgbClr val="E4E0F6"/>
                </a:solidFill>
                <a:latin typeface="Open Sans"/>
              </a:rPr>
              <a:t>Una página propia con marca Solvo donde el prospecto elige día y hora y agenda su reunión. Reemplaza la página genérica de Microsoft Bookings.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LANDING DE AGENDAMIENTO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La landing en vivo ·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1170660"/>
            <a:ext cx="7373721" cy="2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>
                <a:solidFill>
                  <a:srgbClr val="4B5563"/>
                </a:solidFill>
                <a:latin typeface="Open Sans"/>
              </a:rPr>
              <a:t>Integración real con el calendario, corriendo en QA.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5360" y="1578025"/>
            <a:ext cx="6339840" cy="3268133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60" y="1578025"/>
            <a:ext cx="6339840" cy="2743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360" y="1839645"/>
            <a:ext cx="63398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1372" y="1684324"/>
            <a:ext cx="61722" cy="6172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1100" y="1684324"/>
            <a:ext cx="61722" cy="6172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0828" y="1684324"/>
            <a:ext cx="61722" cy="6172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8092" y="1578025"/>
            <a:ext cx="6339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9CA3AF"/>
                </a:solidFill>
                <a:latin typeface="Consolas"/>
              </a:rPr>
              <a:t>book.solvoglobal.com · QA</a:t>
            </a:r>
          </a:p>
        </p:txBody>
      </p:sp>
      <p:pic>
        <p:nvPicPr>
          <p:cNvPr id="13" name="Picture 12" descr="landing-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1852345"/>
            <a:ext cx="6339840" cy="29938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0" y="1578025"/>
            <a:ext cx="3535679" cy="6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>
                <a:solidFill>
                  <a:srgbClr val="111827"/>
                </a:solidFill>
                <a:latin typeface="Poppins"/>
              </a:rPr>
              <a:t>El prospecto llega ya identificado por la URL del cold email — sin formulario.</a:t>
            </a:r>
          </a:p>
        </p:txBody>
      </p:sp>
      <p:sp>
        <p:nvSpPr>
          <p:cNvPr id="15" name="Oval 14"/>
          <p:cNvSpPr/>
          <p:nvPr/>
        </p:nvSpPr>
        <p:spPr>
          <a:xfrm>
            <a:off x="7693660" y="2371496"/>
            <a:ext cx="61722" cy="61722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20061"/>
            <a:ext cx="3371088" cy="3425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4B5563"/>
                </a:solidFill>
                <a:latin typeface="Open Sans"/>
              </a:rPr>
              <a:t>Ve la disponibilidad real del calendario.</a:t>
            </a:r>
          </a:p>
        </p:txBody>
      </p:sp>
      <p:sp>
        <p:nvSpPr>
          <p:cNvPr id="17" name="Oval 16"/>
          <p:cNvSpPr/>
          <p:nvPr/>
        </p:nvSpPr>
        <p:spPr>
          <a:xfrm>
            <a:off x="7693660" y="2659319"/>
            <a:ext cx="61722" cy="61722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607884"/>
            <a:ext cx="3371088" cy="3425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4B5563"/>
                </a:solidFill>
                <a:latin typeface="Open Sans"/>
              </a:rPr>
              <a:t>Elige día y hora y confirma.</a:t>
            </a:r>
          </a:p>
        </p:txBody>
      </p:sp>
      <p:sp>
        <p:nvSpPr>
          <p:cNvPr id="19" name="Oval 18"/>
          <p:cNvSpPr/>
          <p:nvPr/>
        </p:nvSpPr>
        <p:spPr>
          <a:xfrm>
            <a:off x="7693660" y="2947143"/>
            <a:ext cx="61722" cy="61722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895708"/>
            <a:ext cx="3371088" cy="3425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4B5563"/>
                </a:solidFill>
                <a:latin typeface="Open Sans"/>
              </a:rPr>
              <a:t>Se crea la reunión con videollamada en Teams.</a:t>
            </a:r>
          </a:p>
        </p:txBody>
      </p:sp>
      <p:sp>
        <p:nvSpPr>
          <p:cNvPr id="21" name="Oval 20"/>
          <p:cNvSpPr/>
          <p:nvPr/>
        </p:nvSpPr>
        <p:spPr>
          <a:xfrm>
            <a:off x="7693660" y="3234966"/>
            <a:ext cx="61722" cy="61722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3183531"/>
            <a:ext cx="3371088" cy="3425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4B5563"/>
                </a:solidFill>
                <a:latin typeface="Open Sans"/>
              </a:rPr>
              <a:t>Recibe el correo de confirmación y descarga el .ics.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567367"/>
            <a:ext cx="45424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1" spc="151">
                <a:solidFill>
                  <a:srgbClr val="9CA3AF"/>
                </a:solidFill>
                <a:latin typeface="Poppins"/>
              </a:rPr>
              <a:t>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973" y="3567367"/>
            <a:ext cx="1319832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973" y="3567367"/>
            <a:ext cx="1319832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Azure Static Web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25726" y="3567367"/>
            <a:ext cx="1027593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5726" y="3567367"/>
            <a:ext cx="1027593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Microsoft 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5239" y="3567367"/>
            <a:ext cx="384667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75239" y="3567367"/>
            <a:ext cx="384667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M365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862261"/>
            <a:ext cx="50800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7780528" y="3862261"/>
            <a:ext cx="1261384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80528" y="3862261"/>
            <a:ext cx="1261384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Azure Container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63832" y="3862261"/>
            <a:ext cx="443115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3832" y="3862261"/>
            <a:ext cx="443115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Brevo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28868" y="3862261"/>
            <a:ext cx="735354" cy="22357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8868" y="3862261"/>
            <a:ext cx="735354" cy="223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Consolas"/>
              </a:rPr>
              <a:t>PostgreSQL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4205161"/>
            <a:ext cx="1168107" cy="243801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76972" y="4289342"/>
            <a:ext cx="75438" cy="75438"/>
          </a:xfrm>
          <a:prstGeom prst="ellipse">
            <a:avLst/>
          </a:prstGeom>
          <a:solidFill>
            <a:srgbClr val="8F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34020" y="4205161"/>
            <a:ext cx="1168107" cy="2438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4B5563"/>
                </a:solidFill>
                <a:latin typeface="Poppins"/>
              </a:rPr>
              <a:t>Sin desplegar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561777"/>
            <a:ext cx="3535679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9CA3AF"/>
                </a:solidFill>
                <a:latin typeface="Open Sans"/>
              </a:rPr>
              <a:t>MVP con 4 bloqueantes de infraestructura. Producción en el Sprint 15; el dominio book.solvoglobal.com queda pendiente del go-live.</a:t>
            </a:r>
          </a:p>
        </p:txBody>
      </p:sp>
      <p:pic>
        <p:nvPicPr>
          <p:cNvPr id="41" name="Picture 40" descr="SolvoGenAI_Icon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ECO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LANDING DE AGENDAMIENTO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Correos de confirmación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575" y="1225524"/>
            <a:ext cx="2926079" cy="144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spc="146">
                <a:solidFill>
                  <a:srgbClr val="E07E3A"/>
                </a:solidFill>
                <a:latin typeface="Poppins"/>
              </a:rPr>
              <a:t>AL PROSPECTO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575" y="1390116"/>
            <a:ext cx="2926079" cy="32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5" b="1">
                <a:solidFill>
                  <a:srgbClr val="111827"/>
                </a:solidFill>
                <a:latin typeface="Poppins"/>
              </a:rPr>
              <a:t>“Your meeting with Solvo is confirmed”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5247" y="1786801"/>
            <a:ext cx="2724734" cy="4539068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8" name="Picture 7" descr="email-prosp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47" y="1837601"/>
            <a:ext cx="2623134" cy="4437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59567" y="1225524"/>
            <a:ext cx="2926079" cy="144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spc="146">
                <a:solidFill>
                  <a:srgbClr val="E07E3A"/>
                </a:solidFill>
                <a:latin typeface="Poppins"/>
              </a:rPr>
              <a:t>AVISO INTERNO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9567" y="1390116"/>
            <a:ext cx="2926079" cy="32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5" b="1">
                <a:solidFill>
                  <a:srgbClr val="111827"/>
                </a:solidFill>
                <a:latin typeface="Poppins"/>
              </a:rPr>
              <a:t>“New meeting booked: Sarah Chen (Acme Corp)”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062" y="1786801"/>
            <a:ext cx="2533089" cy="4539068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2" name="Picture 11" descr="email-ac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862" y="1837601"/>
            <a:ext cx="2431489" cy="4437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19" y="1837601"/>
            <a:ext cx="3169920" cy="4437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4B5563"/>
                </a:solidFill>
                <a:latin typeface="Open Sans"/>
              </a:rPr>
              <a:t>Cada reserva dispara dos correos con marca propia: al prospecto, con la fecha, la hora y el enlace de la videollamada; y un aviso interno a la cuenta de agendamiento, con los datos del prospecto para reasignar el comercial.</a:t>
            </a:r>
          </a:p>
        </p:txBody>
      </p:sp>
      <p:pic>
        <p:nvPicPr>
          <p:cNvPr id="14" name="Picture 13" descr="SolvoGenAI_Icon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 · ECO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60" y="533689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6936" y="480060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711860"/>
            <a:ext cx="10241280" cy="362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84" b="1">
                <a:solidFill>
                  <a:srgbClr val="111827"/>
                </a:solidFill>
                <a:latin typeface="Poppins"/>
              </a:rPr>
              <a:t>Qué sigue por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360" y="1307820"/>
            <a:ext cx="4962144" cy="1820113"/>
          </a:xfrm>
          <a:prstGeom prst="roundRect">
            <a:avLst>
              <a:gd name="adj" fmla="val 602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60" y="1333220"/>
            <a:ext cx="44450" cy="1769313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" y="1787880"/>
            <a:ext cx="3963923" cy="85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48"/>
              </a:spcAft>
            </a:pPr>
            <a:r>
              <a:rPr sz="1296" b="1">
                <a:solidFill>
                  <a:srgbClr val="111827"/>
                </a:solidFill>
                <a:latin typeface="Poppins"/>
              </a:rPr>
              <a:t>Current Client Openings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4B5563"/>
                </a:solidFill>
                <a:latin typeface="Open Sans"/>
              </a:rPr>
              <a:t>Cargar el listado oficial de clientes y cerrar QA.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93520" y="2540340"/>
            <a:ext cx="93268" cy="68031"/>
          </a:xfrm>
          <a:prstGeom prst="rightArrow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6166" y="2516200"/>
            <a:ext cx="3963923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E07E3A"/>
                </a:solidFill>
                <a:latin typeface="Poppins"/>
              </a:rPr>
              <a:t>Producción · Sprint 15 (31 jul)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5" y="1307820"/>
            <a:ext cx="4962144" cy="1820113"/>
          </a:xfrm>
          <a:prstGeom prst="roundRect">
            <a:avLst>
              <a:gd name="adj" fmla="val 602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5" y="1333220"/>
            <a:ext cx="44450" cy="1769313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72656" y="1787880"/>
            <a:ext cx="3963923" cy="85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48"/>
              </a:spcAft>
            </a:pPr>
            <a:r>
              <a:rPr sz="1296" b="1">
                <a:solidFill>
                  <a:srgbClr val="111827"/>
                </a:solidFill>
                <a:latin typeface="Poppins"/>
              </a:rPr>
              <a:t>Talent Pool Scraping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4B5563"/>
                </a:solidFill>
                <a:latin typeface="Open Sans"/>
              </a:rPr>
              <a:t>Instancia n8n dedicada en producción y cierre de QA de la captura de email.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72656" y="2540340"/>
            <a:ext cx="93268" cy="68031"/>
          </a:xfrm>
          <a:prstGeom prst="rightArrow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5302" y="2516200"/>
            <a:ext cx="3963923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E07E3A"/>
                </a:solidFill>
                <a:latin typeface="Poppins"/>
              </a:rPr>
              <a:t>Producción · Sprint 16 (14 ago)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360" y="3306241"/>
            <a:ext cx="4962144" cy="1820113"/>
          </a:xfrm>
          <a:prstGeom prst="roundRect">
            <a:avLst>
              <a:gd name="adj" fmla="val 602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60" y="3331641"/>
            <a:ext cx="44450" cy="1769313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3520" y="3786301"/>
            <a:ext cx="3963923" cy="85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48"/>
              </a:spcAft>
            </a:pPr>
            <a:r>
              <a:rPr sz="1296" b="1">
                <a:solidFill>
                  <a:srgbClr val="111827"/>
                </a:solidFill>
                <a:latin typeface="Poppins"/>
              </a:rPr>
              <a:t>On-Demand Openings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4B5563"/>
                </a:solidFill>
                <a:latin typeface="Open Sans"/>
              </a:rPr>
              <a:t>Definir y aprovisionar la máquina destino en producción; el release de Solvo Platform con On-Demand entra a validación.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493520" y="4538761"/>
            <a:ext cx="93268" cy="68031"/>
          </a:xfrm>
          <a:prstGeom prst="rightArrow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6166" y="4514621"/>
            <a:ext cx="3963923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E07E3A"/>
                </a:solidFill>
                <a:latin typeface="Poppins"/>
              </a:rPr>
              <a:t>Producción · Sprint 16 (14 ago)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5" y="3306241"/>
            <a:ext cx="4962144" cy="1820113"/>
          </a:xfrm>
          <a:prstGeom prst="roundRect">
            <a:avLst>
              <a:gd name="adj" fmla="val 602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5" y="3331641"/>
            <a:ext cx="44450" cy="1769313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2656" y="3786301"/>
            <a:ext cx="3963923" cy="85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48"/>
              </a:spcAft>
            </a:pPr>
            <a:r>
              <a:rPr sz="1296" b="1">
                <a:solidFill>
                  <a:srgbClr val="111827"/>
                </a:solidFill>
                <a:latin typeface="Poppins"/>
              </a:rPr>
              <a:t>Landing de Agendamiento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4B5563"/>
                </a:solidFill>
                <a:latin typeface="Open Sans"/>
              </a:rPr>
              <a:t>Resolver los 4 bloqueantes de infraestructura e integrar el despliegue real; luego Email Cold Outreach agenda con la landing.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772656" y="4538761"/>
            <a:ext cx="93268" cy="68031"/>
          </a:xfrm>
          <a:prstGeom prst="rightArrow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5302" y="4514621"/>
            <a:ext cx="3963923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E07E3A"/>
                </a:solidFill>
                <a:latin typeface="Poppins"/>
              </a:rPr>
              <a:t>Producción · Sprint 15 (31 jul)</a:t>
            </a:r>
          </a:p>
        </p:txBody>
      </p:sp>
      <p:pic>
        <p:nvPicPr>
          <p:cNvPr id="25" name="Picture 24" descr="SolvoGenAI_Ico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6512013"/>
            <a:ext cx="150876" cy="1508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23772" y="6522643"/>
            <a:ext cx="10241280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SPRINT REVIEW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olvoGenAI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167" y="2057400"/>
            <a:ext cx="993665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606040"/>
            <a:ext cx="121920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320" b="1">
                <a:solidFill>
                  <a:srgbClr val="FFFFFF"/>
                </a:solidFill>
                <a:latin typeface="Poppins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60420"/>
            <a:ext cx="12192000" cy="230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DAD5F2"/>
                </a:solidFill>
                <a:latin typeface="Open Sans"/>
              </a:rPr>
              <a:t>Gracias — Sprint Review 14 · Softgic Product Owner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